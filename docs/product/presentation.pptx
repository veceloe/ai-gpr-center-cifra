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1" cap="all" spc="160">
                <a:solidFill>
                  <a:srgbClr val="FFFFFF"/>
                </a:solidFill>
                <a:latin typeface="Inter Tight"/>
              </a:rPr>
              <a:t>ITMO AI Product Hack · кейс ООО «Цифра»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000" b="1">
                <a:solidFill>
                  <a:srgbClr val="FFFFFF"/>
                </a:solidFill>
                <a:latin typeface="Inter Tight"/>
              </a:rPr>
              <a:t>Интеллектуальный центр
PR/GR-мониторинга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15968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>
                <a:solidFill>
                  <a:srgbClr val="E4F5DE"/>
                </a:solidFill>
                <a:latin typeface="Inter Tight"/>
              </a:rPr>
              <a:t>Лента, отсортированная по влиянию на компанию, а не по дате публикации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D3EFC9"/>
                </a:solidFill>
                <a:latin typeface="Inter Tight"/>
              </a:rPr>
              <a:t>Левочкин Егор · Головаш Денис · Артемьев Иван</a:t>
            </a:r>
          </a:p>
        </p:txBody>
      </p:sp>
      <p:pic>
        <p:nvPicPr>
          <p:cNvPr id="7" name="Picture 6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2855" y="4114800"/>
            <a:ext cx="1417320" cy="1417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16975" y="56509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150" b="0">
                <a:solidFill>
                  <a:srgbClr val="FFFFFF"/>
                </a:solidFill>
                <a:latin typeface="Inter Tight"/>
              </a:rPr>
              <a:t>185.56.162.154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50292" cy="228600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1417320"/>
            <a:ext cx="67665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000" b="1">
                <a:solidFill>
                  <a:srgbClr val="231F20"/>
                </a:solidFill>
                <a:latin typeface="Inter Tight"/>
              </a:rPr>
              <a:t>Три-четыре часа в день
уходит на то, чтобы
прочитать всё вручную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41605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6B7280"/>
                </a:solidFill>
                <a:latin typeface="Inter Tight"/>
              </a:rPr>
              <a:t>И дело не в объёме. Агрегаторы отвечают на вопрос «что интересного произошло». GR-специалисту нужен другой ответ: что из этого касается нашей компании.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481328"/>
            <a:ext cx="3200400" cy="1387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379123"/>
                </a:solidFill>
                <a:latin typeface="Inter Tight"/>
              </a:rPr>
              <a:t>630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063240"/>
            <a:ext cx="3200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6B7280"/>
                </a:solidFill>
                <a:latin typeface="Inter Tight"/>
              </a:rPr>
              <a:t>часов в год на специалиста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34290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6B7280"/>
                </a:solidFill>
                <a:latin typeface="Inter Tight"/>
              </a:rPr>
              <a:t>Столько уходит на ручной мониторинг. Целевой ориентир заказчика — разбор суточной повестки за 10–15 минут.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docs/business-case.md · расчёт согласован с заказчиком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1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0292" cy="137160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1325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b="1">
                <a:solidFill>
                  <a:srgbClr val="231F20"/>
                </a:solidFill>
                <a:latin typeface="Inter Tight"/>
              </a:rPr>
              <a:t>Модель выставляет баллы.
Индекс считает код.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3063240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50" b="0">
                <a:solidFill>
                  <a:srgbClr val="6B7280"/>
                </a:solidFill>
                <a:latin typeface="Inter Tight"/>
              </a:rPr>
              <a:t>В контракте ответа модели полей «индекс» и «категория» нет вовсе — она физически не может их вернуть. Поэтому оценку можно проверить, объяснить и поправить.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43159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>
                <a:solidFill>
                  <a:srgbClr val="379123"/>
                </a:solidFill>
                <a:latin typeface="Inter Tight"/>
              </a:rPr>
              <a:t>ИВ  =  ( Σ балл × вес )  ÷  3  × 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5257800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6B7280"/>
                </a:solidFill>
                <a:latin typeface="Inter Tight"/>
              </a:rPr>
              <a:t>Веса и пороги — методика заказчика, она у него уже была в Excel. Мы её не придумывали и менять можем только с его согласия.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ADR-0003 · backend/config/scoring.yaml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2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379123"/>
                </a:solidFill>
                <a:latin typeface="Inter Tight"/>
              </a:rPr>
              <a:t>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>
                <a:solidFill>
                  <a:srgbClr val="231F20"/>
                </a:solidFill>
                <a:latin typeface="Inter Tight"/>
              </a:rPr>
              <a:t>Сверху то, что важнее для компании, а не то, что свежее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7280"/>
                </a:solidFill>
                <a:latin typeface="Inter Tight"/>
              </a:rPr>
              <a:t>Цветом отмечены только два верхних уровня серьёзности: сортировка уже сделала главную работу.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70992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fe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737360"/>
            <a:ext cx="9052560" cy="44887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185.56.162.154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3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379123"/>
                </a:solidFill>
                <a:latin typeface="Inter Tight"/>
              </a:rPr>
              <a:t>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>
                <a:solidFill>
                  <a:srgbClr val="231F20"/>
                </a:solidFill>
                <a:latin typeface="Inter Tight"/>
              </a:rPr>
              <a:t>Оценку видно целиком — и её можно поправить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7280"/>
                </a:solidFill>
                <a:latin typeface="Inter Tight"/>
              </a:rPr>
              <a:t>Слева цитата из оригинала под каждым утверждением. Справа шесть критериев: балл, вклад в индекс, обоснование. Меняете балл — индекс пересчитывается сразу.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70992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breakd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737360"/>
            <a:ext cx="9052560" cy="44887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FR-024 · FR-081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4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379123"/>
                </a:solidFill>
                <a:latin typeface="Inter Tight"/>
              </a:rPr>
              <a:t>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>
                <a:solidFill>
                  <a:srgbClr val="231F20"/>
                </a:solidFill>
                <a:latin typeface="Inter Tight"/>
              </a:rPr>
              <a:t>НПА живёт отдельно: стадии, хронология, динамика влияния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7280"/>
                </a:solidFill>
                <a:latin typeface="Inter Tight"/>
              </a:rPr>
              <a:t>Стадия «Обсуждение» помечена неприменимой, а не непройденной: российские акты стадии пропускают, и линейная шкала без этого состояния лжёт.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2135" y="1709928"/>
            <a:ext cx="9107424" cy="45436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_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737360"/>
            <a:ext cx="9052560" cy="44887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FR-032 · FR-035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5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0292" cy="82296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13258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>
                <a:solidFill>
                  <a:srgbClr val="231F20"/>
                </a:solidFill>
                <a:latin typeface="Inter Tight"/>
              </a:rPr>
              <a:t>Обработка потока стоит дешевле,
чем один пропущенный документ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035808"/>
            <a:ext cx="50292" cy="91440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3017520"/>
            <a:ext cx="4572000" cy="8513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79123"/>
                </a:solidFill>
                <a:latin typeface="Inter Tight"/>
              </a:rPr>
              <a:t>≈ 2 100 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3977639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6B7280"/>
                </a:solidFill>
                <a:latin typeface="Inter Tight"/>
              </a:rPr>
              <a:t>в год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315968"/>
            <a:ext cx="4389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6B7280"/>
                </a:solidFill>
                <a:latin typeface="Inter Tight"/>
              </a:rPr>
              <a:t>Полная обработка потока в 150 материалов в сутки: саммари, заземление, классификация и оценка. Четыре копейки за материал.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3035808"/>
            <a:ext cx="50292" cy="914400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76288" y="3017520"/>
            <a:ext cx="4754880" cy="8513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231F20"/>
                </a:solidFill>
                <a:latin typeface="Inter Tight"/>
              </a:rPr>
              <a:t>500 000 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3977639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6B7280"/>
                </a:solidFill>
                <a:latin typeface="Inter Tight"/>
              </a:rPr>
              <a:t>один штраф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4315968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6B7280"/>
                </a:solidFill>
                <a:latin typeface="Inter Tight"/>
              </a:rPr>
              <a:t>Верхняя граница по ФЗ № 295-ФЗ для операторов цифровых платформ. Одного пропуска хватает, чтобы перекрыть двести лет работы модели.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150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9AA1AB"/>
                </a:solidFill>
                <a:latin typeface="Inter Tight"/>
              </a:rPr>
              <a:t>Пересчитано по курсу ЦБ на 05.09.2026 — 86,59 ₽ за доллар.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docs/business-case.md · замер стоимости на реальном материале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6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0292" cy="566928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13258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400" b="1">
                <a:solidFill>
                  <a:srgbClr val="231F20"/>
                </a:solidFill>
                <a:latin typeface="Inter Tight"/>
              </a:rPr>
              <a:t>Проверено на реестре самого заказчика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3840480" cy="8828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379123"/>
                </a:solidFill>
                <a:latin typeface="Inter Tight"/>
              </a:rPr>
              <a:t>37 / 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6B7280"/>
                </a:solidFill>
                <a:latin typeface="Inter Tight"/>
              </a:rPr>
              <a:t>категория совпала или рядом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22191"/>
            <a:ext cx="4023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6B7280"/>
                </a:solidFill>
                <a:latin typeface="Inter Tight"/>
              </a:rPr>
              <a:t>Из сорока двух карточек с проставленными вручную баллами. Формула воспроизводит методику точно: индекс и категория сошлись на всех сорока двух.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514600"/>
            <a:ext cx="2743200" cy="8828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379123"/>
                </a:solidFill>
                <a:latin typeface="Inter Tight"/>
              </a:rPr>
              <a:t>8,2 %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3474720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6B7280"/>
                </a:solidFill>
                <a:latin typeface="Inter Tight"/>
              </a:rPr>
              <a:t>поймала вторая ступень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3822191"/>
            <a:ext cx="29260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6B7280"/>
                </a:solidFill>
                <a:latin typeface="Inter Tight"/>
              </a:rPr>
              <a:t>Утверждений, где цитата дословно есть в оригинале, но утверждения не подтверждает. Проверка подстрокой их пропустила бы. У коммерческих правовых ИИ этот класс даёт 17–33 %.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2514600"/>
            <a:ext cx="2560320" cy="8828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379123"/>
                </a:solidFill>
                <a:latin typeface="Inter Tight"/>
              </a:rPr>
              <a:t>12,7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347472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6B7280"/>
                </a:solidFill>
                <a:latin typeface="Inter Tight"/>
              </a:rPr>
              <a:t>секунды на материал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822191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6B7280"/>
                </a:solidFill>
                <a:latin typeface="Inter Tight"/>
              </a:rPr>
              <a:t>Медиана полной обработки при целевых десяти-пятнадцати секундах.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1">
                <a:solidFill>
                  <a:srgbClr val="231F20"/>
                </a:solidFill>
                <a:latin typeface="Inter Tight"/>
              </a:rPr>
              <a:t>Ведущая метрика — не общая точность. </a:t>
            </a:r>
            <a:r>
              <a:rPr sz="1350" b="0">
                <a:solidFill>
                  <a:srgbClr val="6B7280"/>
                </a:solidFill>
                <a:latin typeface="Inter Tight"/>
              </a:rPr>
              <a:t>Заказчик назвал ключевым условием отсутствие провалов важного в нижние категории: пропущенное регуляторное изменение стоит дороже десятка лишних материалов в ленте.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evals/results.md · python -m src.cli 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7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EB5757"/>
                </a:solidFill>
                <a:latin typeface="Inter Tight"/>
              </a:rPr>
              <a:t>Честно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400" b="1">
                <a:solidFill>
                  <a:srgbClr val="231F20"/>
                </a:solidFill>
                <a:latin typeface="Inter Tight"/>
              </a:rPr>
              <a:t>Чего мы измерить не смогли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50292" cy="960120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066544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>
                <a:solidFill>
                  <a:srgbClr val="231F20"/>
                </a:solidFill>
                <a:latin typeface="Inter Tight"/>
              </a:rPr>
              <a:t>Точность фильтрации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487168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6B7280"/>
                </a:solidFill>
                <a:latin typeface="Inter Tight"/>
              </a:rPr>
              <a:t>В реестре заказчика нет ни одной нерелевантной карточки — сравнивать не с чем. Заявленные восемьдесят процентов на таких данных неизмеримы в принципе. Нужен размеченный набор с отрицательными примерами.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01568"/>
            <a:ext cx="50292" cy="960120"/>
          </a:xfrm>
          <a:prstGeom prst="rect">
            <a:avLst/>
          </a:prstGeom>
          <a:solidFill>
            <a:srgbClr val="EB5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364992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>
                <a:solidFill>
                  <a:srgbClr val="231F20"/>
                </a:solidFill>
                <a:latin typeface="Inter Tight"/>
              </a:rPr>
              <a:t>Провалы важного: один при цели ноль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785616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6B7280"/>
                </a:solidFill>
                <a:latin typeface="Inter Tight"/>
              </a:rPr>
              <a:t>Единственный провал — следствие того, что новостная схема систематически занижает оценку на материалах с непрямой связью с бизнесом.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700016"/>
            <a:ext cx="50292" cy="9601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4663440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>
                <a:solidFill>
                  <a:srgbClr val="231F20"/>
                </a:solidFill>
                <a:latin typeface="Inter Tight"/>
              </a:rPr>
              <a:t>Живой сбор на стенде выключен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5084064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6B7280"/>
                </a:solidFill>
                <a:latin typeface="Inter Tight"/>
              </a:rPr>
              <a:t>Обработка не успевает за сбором, и необработанные материалы попадают в ленту пустыми карточками. Показываем подготовленный срез.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82512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docs/hypotheses.md · specs/…/open-questions.md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9AA1AB"/>
                </a:solidFill>
                <a:latin typeface="Inter Tight"/>
              </a:rPr>
              <a:t>8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cap="all" spc="140">
                <a:solidFill>
                  <a:srgbClr val="D3EFC9"/>
                </a:solidFill>
                <a:latin typeface="Inter Tight"/>
              </a:rPr>
              <a:t>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400" b="1">
                <a:solidFill>
                  <a:srgbClr val="FFFFFF"/>
                </a:solidFill>
                <a:latin typeface="Inter Tight"/>
              </a:rPr>
              <a:t>Кто делал и где посмотреть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1">
                <a:solidFill>
                  <a:srgbClr val="FFFFFF"/>
                </a:solidFill>
                <a:latin typeface="Inter Tight"/>
              </a:rPr>
              <a:t>Левочкин Егор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70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D3EFC9"/>
                </a:solidFill>
                <a:latin typeface="Inter Tight"/>
              </a:rPr>
              <a:t>@veceloe  ·  продукт, парсинг, фронтенд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1">
                <a:solidFill>
                  <a:srgbClr val="FFFFFF"/>
                </a:solidFill>
                <a:latin typeface="Inter Tight"/>
              </a:rPr>
              <a:t>Головаш Денис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844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D3EFC9"/>
                </a:solidFill>
                <a:latin typeface="Inter Tight"/>
              </a:rPr>
              <a:t>@denizzzz_ka  ·  весь слой работы с моделью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1">
                <a:solidFill>
                  <a:srgbClr val="FFFFFF"/>
                </a:solidFill>
                <a:latin typeface="Inter Tight"/>
              </a:rPr>
              <a:t>Артемьев Иван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988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D3EFC9"/>
                </a:solidFill>
                <a:latin typeface="Inter Tight"/>
              </a:rPr>
              <a:t>@s3drmn  ·  бэкенд, конвейер, развёртывание</a:t>
            </a:r>
          </a:p>
        </p:txBody>
      </p:sp>
      <p:pic>
        <p:nvPicPr>
          <p:cNvPr id="11" name="Picture 10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9935" y="2286000"/>
            <a:ext cx="1920240" cy="1920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51215" y="431596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1400" b="1">
                <a:solidFill>
                  <a:srgbClr val="FFFFFF"/>
                </a:solidFill>
                <a:latin typeface="Inter Tight"/>
              </a:rPr>
              <a:t>185.56.162.154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E4F5DE"/>
                </a:solidFill>
                <a:latin typeface="Inter Tight"/>
              </a:rPr>
              <a:t>github.com/veceloe/ai-gpr-center-cifra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38251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2000"/>
              </a:lnSpc>
            </a:pPr>
            <a:r>
              <a:rPr sz="950" b="0">
                <a:solidFill>
                  <a:srgbClr val="D3EFC9"/>
                </a:solidFill>
                <a:latin typeface="Inter Tight"/>
              </a:rPr>
              <a:t>9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