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1">
                <a:solidFill>
                  <a:srgbClr val="8B949E"/>
                </a:solidFill>
                <a:latin typeface="Inter Tight"/>
              </a:rPr>
              <a:t>Кейс ООО «Цифра» для GS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97480"/>
            <a:ext cx="10698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200" b="1">
                <a:solidFill>
                  <a:srgbClr val="F2F4F3"/>
                </a:solidFill>
                <a:latin typeface="Inter Tight"/>
              </a:rPr>
              <a:t>Мониторинг,
который отвечает
на вопрос </a:t>
            </a:r>
            <a:r>
              <a:rPr sz="6200" b="1">
                <a:solidFill>
                  <a:srgbClr val="43B02A"/>
                </a:solidFill>
                <a:latin typeface="Inter Tight"/>
              </a:rPr>
              <a:t>«и что?»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4068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>
                <a:solidFill>
                  <a:srgbClr val="8B949E"/>
                </a:solidFill>
                <a:latin typeface="Inter Tight"/>
              </a:rPr>
              <a:t>Интеллектуальный центр PR/GR-мониторинга для GS Labs</a:t>
            </a:r>
          </a:p>
        </p:txBody>
      </p:sp>
      <p:pic>
        <p:nvPicPr>
          <p:cNvPr id="6" name="Picture 5" descr="qr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4754880"/>
            <a:ext cx="1371600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51215" y="623620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2000"/>
              </a:lnSpc>
            </a:pPr>
            <a:r>
              <a:rPr sz="1200" b="1">
                <a:solidFill>
                  <a:srgbClr val="F2F4F3"/>
                </a:solidFill>
                <a:latin typeface="Inter Tight"/>
              </a:rPr>
              <a:t>185.56.162.154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1">
                <a:solidFill>
                  <a:srgbClr val="43B02A"/>
                </a:solidFill>
                <a:latin typeface="Inter Tight"/>
              </a:rPr>
              <a:t>Зачем это вообще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0350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15000" b="1">
                <a:solidFill>
                  <a:srgbClr val="F2F4F3"/>
                </a:solidFill>
                <a:latin typeface="Inter Tight"/>
              </a:rPr>
              <a:t>630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000" b="0">
                <a:solidFill>
                  <a:srgbClr val="43B02A"/>
                </a:solidFill>
                <a:latin typeface="Inter Tight"/>
              </a:rPr>
              <a:t>часов в год у одного специалиста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26280"/>
            <a:ext cx="5394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8B949E"/>
                </a:solidFill>
                <a:latin typeface="Inter Tight"/>
              </a:rPr>
              <a:t>Столько уходит на ручное чтение лент, порталов регуляторов и телеграм-каналов. Ориентир заказчика — разбирать суточную повестку за 10–15 минут.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828800"/>
            <a:ext cx="4572000" cy="3566160"/>
          </a:xfrm>
          <a:prstGeom prst="roundRect">
            <a:avLst>
              <a:gd name="adj" fmla="val 45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2286000"/>
            <a:ext cx="38404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>
                <a:solidFill>
                  <a:srgbClr val="8B949E"/>
                </a:solidFill>
                <a:latin typeface="Inter Tight"/>
              </a:rPr>
              <a:t>Агрегаторы отвечают, </a:t>
            </a:r>
            <a:r>
              <a:rPr sz="2100" b="1">
                <a:solidFill>
                  <a:srgbClr val="F2F4F3"/>
                </a:solidFill>
                <a:latin typeface="Inter Tight"/>
              </a:rPr>
              <a:t>что интересного произошло</a:t>
            </a:r>
            <a:r>
              <a:rPr sz="2100" b="0">
                <a:solidFill>
                  <a:srgbClr val="8B949E"/>
                </a:solidFill>
                <a:latin typeface="Inter Tight"/>
              </a:rPr>
              <a:t>.
GR-специалисту нужен другой ответ: </a:t>
            </a:r>
            <a:r>
              <a:rPr sz="2100" b="1">
                <a:solidFill>
                  <a:srgbClr val="43B02A"/>
                </a:solidFill>
                <a:latin typeface="Inter Tight"/>
              </a:rPr>
              <a:t>что из этого касается нашей компании</a:t>
            </a:r>
            <a:r>
              <a:rPr sz="2100" b="0">
                <a:solidFill>
                  <a:srgbClr val="8B949E"/>
                </a:solidFill>
                <a:latin typeface="Inter Tigh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1">
                <a:solidFill>
                  <a:srgbClr val="43B02A"/>
                </a:solidFill>
                <a:latin typeface="Inter Tight"/>
              </a:rPr>
              <a:t>Что требовалось сделать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F2F4F3"/>
                </a:solidFill>
                <a:latin typeface="Inter Tight"/>
              </a:rPr>
              <a:t>Оценивать каждый материал
с точки зрения одной компании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1">
                <a:solidFill>
                  <a:srgbClr val="43B02A"/>
                </a:solidFill>
                <a:latin typeface="Inter Tight"/>
              </a:rPr>
              <a:t>Собирать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3282696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>
                <a:solidFill>
                  <a:srgbClr val="8B949E"/>
                </a:solidFill>
                <a:latin typeface="Inter Tight"/>
              </a:rPr>
              <a:t>СМИ, порталы регуляторов, СОЗД, телеграм-каналы — без ручного обхода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13048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1">
                <a:solidFill>
                  <a:srgbClr val="43B02A"/>
                </a:solidFill>
                <a:latin typeface="Inter Tight"/>
              </a:rPr>
              <a:t>Понимать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849624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>
                <a:solidFill>
                  <a:srgbClr val="8B949E"/>
                </a:solidFill>
                <a:latin typeface="Inter Tight"/>
              </a:rPr>
              <a:t>саммари, где каждое утверждение подтверждено цитатой из оригинала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79976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1">
                <a:solidFill>
                  <a:srgbClr val="43B02A"/>
                </a:solidFill>
                <a:latin typeface="Inter Tight"/>
              </a:rPr>
              <a:t>Оценивать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4416552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>
                <a:solidFill>
                  <a:srgbClr val="8B949E"/>
                </a:solidFill>
                <a:latin typeface="Inter Tight"/>
              </a:rPr>
              <a:t>по методике заказчика: К1–К6 для НПА, Н1–Н4 для новостей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46904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1">
                <a:solidFill>
                  <a:srgbClr val="43B02A"/>
                </a:solidFill>
                <a:latin typeface="Inter Tight"/>
              </a:rPr>
              <a:t>Вести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98348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>
                <a:solidFill>
                  <a:srgbClr val="8B949E"/>
                </a:solidFill>
                <a:latin typeface="Inter Tight"/>
              </a:rPr>
              <a:t>НПА как долгоживущее досье со стадиями и историей влияния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13832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1">
                <a:solidFill>
                  <a:srgbClr val="43B02A"/>
                </a:solidFill>
                <a:latin typeface="Inter Tight"/>
              </a:rPr>
              <a:t>Отдавать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5550408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>
                <a:solidFill>
                  <a:srgbClr val="8B949E"/>
                </a:solidFill>
                <a:latin typeface="Inter Tight"/>
              </a:rPr>
              <a:t>ленту по влиянию и дайджест под конкретного получателя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63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>
                <a:solidFill>
                  <a:srgbClr val="8B949E"/>
                </a:solidFill>
                <a:latin typeface="Inter Tight"/>
              </a:rPr>
              <a:t>Границы работы заданы заранее: без авторизации, промышленной нагрузки и информационной безопасности.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200" b="1">
                <a:solidFill>
                  <a:srgbClr val="F2F4F3"/>
                </a:solidFill>
                <a:latin typeface="Inter Tight"/>
              </a:rPr>
              <a:t>Модель выставляет баллы.
</a:t>
            </a:r>
            <a:r>
              <a:rPr sz="5200" b="1">
                <a:solidFill>
                  <a:srgbClr val="43B02A"/>
                </a:solidFill>
                <a:latin typeface="Inter Tight"/>
              </a:rPr>
              <a:t>Индекс считает код.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46120"/>
            <a:ext cx="4663440" cy="1828800"/>
          </a:xfrm>
          <a:prstGeom prst="roundRect">
            <a:avLst>
              <a:gd name="adj" fmla="val 45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52044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>
                <a:solidFill>
                  <a:srgbClr val="8B949E"/>
                </a:solidFill>
                <a:latin typeface="Inter Tight"/>
              </a:rPr>
              <a:t>Модель отдаёт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8B949E"/>
                </a:solidFill>
                <a:latin typeface="Inter Tight"/>
              </a:rPr>
              <a:t>К1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07822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1">
                <a:solidFill>
                  <a:srgbClr val="F2F4F3"/>
                </a:solidFill>
                <a:latin typeface="Inter Tigh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384048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8B949E"/>
                </a:solidFill>
                <a:latin typeface="Inter Tight"/>
              </a:rPr>
              <a:t>К2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407822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1">
                <a:solidFill>
                  <a:srgbClr val="F2F4F3"/>
                </a:solidFill>
                <a:latin typeface="Inter Tigh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4016" y="384048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8B949E"/>
                </a:solidFill>
                <a:latin typeface="Inter Tight"/>
              </a:rPr>
              <a:t>К3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4016" y="407822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1">
                <a:solidFill>
                  <a:srgbClr val="F2F4F3"/>
                </a:solidFill>
                <a:latin typeface="Inter Tigh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384048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8B949E"/>
                </a:solidFill>
                <a:latin typeface="Inter Tight"/>
              </a:rPr>
              <a:t>К4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407822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1">
                <a:solidFill>
                  <a:srgbClr val="F2F4F3"/>
                </a:solidFill>
                <a:latin typeface="Inter Tight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84048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8B949E"/>
                </a:solidFill>
                <a:latin typeface="Inter Tight"/>
              </a:rPr>
              <a:t>К5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407822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1">
                <a:solidFill>
                  <a:srgbClr val="F2F4F3"/>
                </a:solidFill>
                <a:latin typeface="Inter Tight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84048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8B949E"/>
                </a:solidFill>
                <a:latin typeface="Inter Tight"/>
              </a:rPr>
              <a:t>К6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7822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1">
                <a:solidFill>
                  <a:srgbClr val="F2F4F3"/>
                </a:solidFill>
                <a:latin typeface="Inter Tigh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55371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8B949E"/>
                </a:solidFill>
                <a:latin typeface="Inter Tight"/>
              </a:rPr>
              <a:t>и обоснование к каждому баллу</a:t>
            </a:r>
          </a:p>
        </p:txBody>
      </p:sp>
      <p:sp>
        <p:nvSpPr>
          <p:cNvPr id="19" name="Can 18"/>
          <p:cNvSpPr/>
          <p:nvPr/>
        </p:nvSpPr>
        <p:spPr>
          <a:xfrm>
            <a:off x="5623560" y="4069080"/>
            <a:ext cx="685800" cy="146304"/>
          </a:xfrm>
          <a:prstGeom prst="can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75120" y="3246120"/>
            <a:ext cx="4754880" cy="1828800"/>
          </a:xfrm>
          <a:prstGeom prst="roundRect">
            <a:avLst>
              <a:gd name="adj" fmla="val 4500"/>
            </a:avLst>
          </a:prstGeom>
          <a:solidFill>
            <a:srgbClr val="23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35204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>
                <a:solidFill>
                  <a:srgbClr val="43B02A"/>
                </a:solidFill>
                <a:latin typeface="Inter Tight"/>
              </a:rPr>
              <a:t>Код вычисляет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88620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F2F4F3"/>
                </a:solidFill>
                <a:latin typeface="Inter Tight"/>
              </a:rPr>
              <a:t>65,0</a:t>
            </a:r>
            <a:r>
              <a:rPr sz="2000" b="0">
                <a:solidFill>
                  <a:srgbClr val="8B949E"/>
                </a:solidFill>
                <a:latin typeface="Inter Tight"/>
              </a:rPr>
              <a:t>  →  </a:t>
            </a:r>
            <a:r>
              <a:rPr sz="2000" b="1">
                <a:solidFill>
                  <a:srgbClr val="F2F4F3"/>
                </a:solidFill>
                <a:latin typeface="Inter Tight"/>
              </a:rPr>
              <a:t>Среднее</a:t>
            </a:r>
            <a:r>
              <a:rPr sz="1400" b="0">
                <a:solidFill>
                  <a:srgbClr val="8B949E"/>
                </a:solidFill>
                <a:latin typeface="Inter Tight"/>
              </a:rPr>
              <a:t>
флаг эскалации поднимает до «Высокого»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406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F2F4F3"/>
                </a:solidFill>
                <a:latin typeface="Inter Tight"/>
              </a:rPr>
              <a:t>В контракте ответа модели полей «индекс» и «категория» нет вовсе. </a:t>
            </a:r>
            <a:r>
              <a:rPr sz="1500" b="0">
                <a:solidFill>
                  <a:srgbClr val="8B949E"/>
                </a:solidFill>
                <a:latin typeface="Inter Tight"/>
              </a:rPr>
              <a:t>Она физически не может их вернуть — поэтому оценку можно проверить и поправить.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1">
                <a:solidFill>
                  <a:srgbClr val="379123"/>
                </a:solidFill>
                <a:latin typeface="Inter Tight"/>
              </a:rPr>
              <a:t>Вот как это выглядит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3000" b="1">
                <a:solidFill>
                  <a:srgbClr val="231F20"/>
                </a:solidFill>
                <a:latin typeface="Inter Tight"/>
              </a:rPr>
              <a:t>Сверху то, что важнее для компании, а не то, что свежее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B7280"/>
                </a:solidFill>
                <a:latin typeface="Inter Tight"/>
              </a:rPr>
              <a:t>Цветом отмечены только два верхних уровня серьёзности — сортировка уже сделала главную работу.</a:t>
            </a:r>
          </a:p>
        </p:txBody>
      </p:sp>
      <p:sp>
        <p:nvSpPr>
          <p:cNvPr id="6" name="Rectangle 5"/>
          <p:cNvSpPr/>
          <p:nvPr/>
        </p:nvSpPr>
        <p:spPr>
          <a:xfrm>
            <a:off x="1542135" y="1801368"/>
            <a:ext cx="9107424" cy="45436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ot_fe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567" y="1828800"/>
            <a:ext cx="9052560" cy="44887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1">
                <a:solidFill>
                  <a:srgbClr val="43B02A"/>
                </a:solidFill>
                <a:latin typeface="Inter Tight"/>
              </a:rPr>
              <a:t>Сколько это стоит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F2F4F3"/>
                </a:solidFill>
                <a:latin typeface="Inter Tight"/>
              </a:rPr>
              <a:t>Год работы модели дешевле,
чем один пропущенный документ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10698480" cy="1965960"/>
          </a:xfrm>
          <a:prstGeom prst="roundRect">
            <a:avLst>
              <a:gd name="adj" fmla="val 45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8404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>
                <a:solidFill>
                  <a:srgbClr val="8B949E"/>
                </a:solidFill>
                <a:latin typeface="Inter Tight"/>
              </a:rPr>
              <a:t>Год обработки потока в 150 материалов в сутки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4187952"/>
            <a:ext cx="36868" cy="27432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4160520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>
                <a:solidFill>
                  <a:srgbClr val="43B02A"/>
                </a:solidFill>
                <a:latin typeface="Inter Tight"/>
              </a:rPr>
              <a:t>2 100 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6817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>
                <a:solidFill>
                  <a:srgbClr val="8B949E"/>
                </a:solidFill>
                <a:latin typeface="Inter Tight"/>
              </a:rPr>
              <a:t>Один штраф по ФЗ № 295-ФЗ, верхняя граница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5029200"/>
            <a:ext cx="8778240" cy="274320"/>
          </a:xfrm>
          <a:prstGeom prst="rect">
            <a:avLst/>
          </a:prstGeom>
          <a:solidFill>
            <a:srgbClr val="EB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5001768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>
                <a:solidFill>
                  <a:srgbClr val="F2F4F3"/>
                </a:solidFill>
                <a:latin typeface="Inter Tight"/>
              </a:rPr>
              <a:t>500 000 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064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F2F4F3"/>
                </a:solidFill>
                <a:latin typeface="Inter Tight"/>
              </a:rPr>
              <a:t>Полосы в одном масштабе, зелёная не увеличена. </a:t>
            </a:r>
            <a:r>
              <a:rPr sz="1400" b="0">
                <a:solidFill>
                  <a:srgbClr val="8B949E"/>
                </a:solidFill>
                <a:latin typeface="Inter Tight"/>
              </a:rPr>
              <a:t>Четыре копейки за материал. Одного пропуска хватает, чтобы перекрыть двести лет работы модели. Курс ЦБ на 05.09.2026.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1">
                <a:solidFill>
                  <a:srgbClr val="43B02A"/>
                </a:solidFill>
                <a:latin typeface="Inter Tight"/>
              </a:rPr>
              <a:t>Насколько это точно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4000" b="1">
                <a:solidFill>
                  <a:srgbClr val="F2F4F3"/>
                </a:solidFill>
                <a:latin typeface="Inter Tight"/>
              </a:rPr>
              <a:t>Проверено на реестре самого заказчика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6858000" cy="3200400"/>
          </a:xfrm>
          <a:prstGeom prst="roundRect">
            <a:avLst>
              <a:gd name="adj" fmla="val 45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514600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>
                <a:solidFill>
                  <a:srgbClr val="8B949E"/>
                </a:solidFill>
                <a:latin typeface="Inter Tight"/>
              </a:rPr>
              <a:t>Одна клетка — одна карточка реестра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2926080"/>
            <a:ext cx="329184" cy="32918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36192" y="2926080"/>
            <a:ext cx="329184" cy="32918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56816" y="2926080"/>
            <a:ext cx="329184" cy="32918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0" y="2926080"/>
            <a:ext cx="329184" cy="32918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8064" y="2926080"/>
            <a:ext cx="329184" cy="32918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18688" y="2926080"/>
            <a:ext cx="329184" cy="32918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39312" y="2926080"/>
            <a:ext cx="329184" cy="32918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59936" y="2926080"/>
            <a:ext cx="329184" cy="32918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2926080"/>
            <a:ext cx="329184" cy="32918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01184" y="2926080"/>
            <a:ext cx="329184" cy="32918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21808" y="2926080"/>
            <a:ext cx="329184" cy="32918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42432" y="2926080"/>
            <a:ext cx="329184" cy="32918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2926080"/>
            <a:ext cx="329184" cy="32918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2926080"/>
            <a:ext cx="329184" cy="32918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15568" y="3346704"/>
            <a:ext cx="329184" cy="32918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36192" y="3346704"/>
            <a:ext cx="329184" cy="32918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56816" y="3346704"/>
            <a:ext cx="329184" cy="32918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77440" y="3346704"/>
            <a:ext cx="329184" cy="32918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98064" y="3346704"/>
            <a:ext cx="329184" cy="329184"/>
          </a:xfrm>
          <a:prstGeom prst="rect">
            <a:avLst/>
          </a:prstGeom>
          <a:solidFill>
            <a:srgbClr val="A8D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18688" y="3346704"/>
            <a:ext cx="329184" cy="329184"/>
          </a:xfrm>
          <a:prstGeom prst="rect">
            <a:avLst/>
          </a:prstGeom>
          <a:solidFill>
            <a:srgbClr val="A8D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39312" y="3346704"/>
            <a:ext cx="329184" cy="329184"/>
          </a:xfrm>
          <a:prstGeom prst="rect">
            <a:avLst/>
          </a:prstGeom>
          <a:solidFill>
            <a:srgbClr val="A8D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59936" y="3346704"/>
            <a:ext cx="329184" cy="329184"/>
          </a:xfrm>
          <a:prstGeom prst="rect">
            <a:avLst/>
          </a:prstGeom>
          <a:solidFill>
            <a:srgbClr val="A8D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3346704"/>
            <a:ext cx="329184" cy="329184"/>
          </a:xfrm>
          <a:prstGeom prst="rect">
            <a:avLst/>
          </a:prstGeom>
          <a:solidFill>
            <a:srgbClr val="A8D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01184" y="3346704"/>
            <a:ext cx="329184" cy="329184"/>
          </a:xfrm>
          <a:prstGeom prst="rect">
            <a:avLst/>
          </a:prstGeom>
          <a:solidFill>
            <a:srgbClr val="A8D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21808" y="3346704"/>
            <a:ext cx="329184" cy="329184"/>
          </a:xfrm>
          <a:prstGeom prst="rect">
            <a:avLst/>
          </a:prstGeom>
          <a:solidFill>
            <a:srgbClr val="A8D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42432" y="3346704"/>
            <a:ext cx="329184" cy="329184"/>
          </a:xfrm>
          <a:prstGeom prst="rect">
            <a:avLst/>
          </a:prstGeom>
          <a:solidFill>
            <a:srgbClr val="A8D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63056" y="3346704"/>
            <a:ext cx="329184" cy="329184"/>
          </a:xfrm>
          <a:prstGeom prst="rect">
            <a:avLst/>
          </a:prstGeom>
          <a:solidFill>
            <a:srgbClr val="A8D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0" y="3346704"/>
            <a:ext cx="329184" cy="329184"/>
          </a:xfrm>
          <a:prstGeom prst="rect">
            <a:avLst/>
          </a:prstGeom>
          <a:solidFill>
            <a:srgbClr val="A8D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15568" y="3767328"/>
            <a:ext cx="329184" cy="329184"/>
          </a:xfrm>
          <a:prstGeom prst="rect">
            <a:avLst/>
          </a:prstGeom>
          <a:solidFill>
            <a:srgbClr val="A8D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536192" y="3767328"/>
            <a:ext cx="329184" cy="329184"/>
          </a:xfrm>
          <a:prstGeom prst="rect">
            <a:avLst/>
          </a:prstGeom>
          <a:solidFill>
            <a:srgbClr val="A8D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956816" y="3767328"/>
            <a:ext cx="329184" cy="329184"/>
          </a:xfrm>
          <a:prstGeom prst="rect">
            <a:avLst/>
          </a:prstGeom>
          <a:solidFill>
            <a:srgbClr val="A8D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377440" y="3767328"/>
            <a:ext cx="329184" cy="329184"/>
          </a:xfrm>
          <a:prstGeom prst="rect">
            <a:avLst/>
          </a:prstGeom>
          <a:solidFill>
            <a:srgbClr val="A8D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98064" y="3767328"/>
            <a:ext cx="329184" cy="329184"/>
          </a:xfrm>
          <a:prstGeom prst="rect">
            <a:avLst/>
          </a:prstGeom>
          <a:solidFill>
            <a:srgbClr val="A8D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18688" y="3767328"/>
            <a:ext cx="329184" cy="329184"/>
          </a:xfrm>
          <a:prstGeom prst="rect">
            <a:avLst/>
          </a:prstGeom>
          <a:solidFill>
            <a:srgbClr val="A8D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39312" y="3767328"/>
            <a:ext cx="329184" cy="329184"/>
          </a:xfrm>
          <a:prstGeom prst="rect">
            <a:avLst/>
          </a:prstGeom>
          <a:solidFill>
            <a:srgbClr val="A8D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59936" y="3767328"/>
            <a:ext cx="329184" cy="329184"/>
          </a:xfrm>
          <a:prstGeom prst="rect">
            <a:avLst/>
          </a:prstGeom>
          <a:solidFill>
            <a:srgbClr val="A8D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80560" y="3767328"/>
            <a:ext cx="329184" cy="329184"/>
          </a:xfrm>
          <a:prstGeom prst="rect">
            <a:avLst/>
          </a:prstGeom>
          <a:solidFill>
            <a:srgbClr val="A8D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01184" y="3767328"/>
            <a:ext cx="329184" cy="329184"/>
          </a:xfrm>
          <a:prstGeom prst="rect">
            <a:avLst/>
          </a:prstGeom>
          <a:solidFill>
            <a:srgbClr val="A8D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21808" y="3767328"/>
            <a:ext cx="329184" cy="329184"/>
          </a:xfrm>
          <a:prstGeom prst="rect">
            <a:avLst/>
          </a:prstGeom>
          <a:solidFill>
            <a:srgbClr val="EB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742432" y="3767328"/>
            <a:ext cx="329184" cy="329184"/>
          </a:xfrm>
          <a:prstGeom prst="rect">
            <a:avLst/>
          </a:prstGeom>
          <a:solidFill>
            <a:srgbClr val="EB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63056" y="3767328"/>
            <a:ext cx="329184" cy="329184"/>
          </a:xfrm>
          <a:prstGeom prst="rect">
            <a:avLst/>
          </a:prstGeom>
          <a:solidFill>
            <a:srgbClr val="EB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3680" y="3767328"/>
            <a:ext cx="329184" cy="329184"/>
          </a:xfrm>
          <a:prstGeom prst="rect">
            <a:avLst/>
          </a:prstGeom>
          <a:solidFill>
            <a:srgbClr val="EB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15568" y="4919472"/>
            <a:ext cx="146304" cy="14630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53312" y="489204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6B7280"/>
                </a:solidFill>
                <a:latin typeface="Inter Tight"/>
              </a:rPr>
              <a:t>18 — точно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95928" y="4919472"/>
            <a:ext cx="146304" cy="146304"/>
          </a:xfrm>
          <a:prstGeom prst="rect">
            <a:avLst/>
          </a:prstGeom>
          <a:solidFill>
            <a:srgbClr val="A8D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33672" y="489204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6B7280"/>
                </a:solidFill>
                <a:latin typeface="Inter Tight"/>
              </a:rPr>
              <a:t>20 — на ступень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76288" y="4919472"/>
            <a:ext cx="146304" cy="146304"/>
          </a:xfrm>
          <a:prstGeom prst="rect">
            <a:avLst/>
          </a:prstGeom>
          <a:solidFill>
            <a:srgbClr val="EB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14032" y="489204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6B7280"/>
                </a:solidFill>
                <a:latin typeface="Inter Tight"/>
              </a:rPr>
              <a:t>4 — дальше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46720" y="2240280"/>
            <a:ext cx="3474720" cy="1481328"/>
          </a:xfrm>
          <a:prstGeom prst="roundRect">
            <a:avLst>
              <a:gd name="adj" fmla="val 4500"/>
            </a:avLst>
          </a:prstGeom>
          <a:solidFill>
            <a:srgbClr val="23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66760" y="246888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43B02A"/>
                </a:solidFill>
                <a:latin typeface="Inter Tight"/>
              </a:rPr>
              <a:t>42 / 42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12724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B949E"/>
                </a:solidFill>
                <a:latin typeface="Inter Tight"/>
              </a:rPr>
              <a:t>формула сходится с Excel заказчика точно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46720" y="3959352"/>
            <a:ext cx="3474720" cy="1481328"/>
          </a:xfrm>
          <a:prstGeom prst="roundRect">
            <a:avLst>
              <a:gd name="adj" fmla="val 45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66760" y="4187952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B5757"/>
                </a:solidFill>
                <a:latin typeface="Inter Tight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48463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B949E"/>
                </a:solidFill>
                <a:latin typeface="Inter Tight"/>
              </a:rPr>
              <a:t>провал важного в нижние категории при цели ноль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5715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F2F4F3"/>
                </a:solidFill>
                <a:latin typeface="Inter Tight"/>
              </a:rPr>
              <a:t>Клетки — это модель. </a:t>
            </a:r>
            <a:r>
              <a:rPr sz="1400" b="0">
                <a:solidFill>
                  <a:srgbClr val="8B949E"/>
                </a:solidFill>
                <a:latin typeface="Inter Tight"/>
              </a:rPr>
              <a:t>Она сама выставила баллы. «42 из 42» — это про формулу: получив экспертные баллы, код выдаёт тот же индекс. Путать эти два числа нельзя.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1">
                <a:solidFill>
                  <a:srgbClr val="EB5757"/>
                </a:solidFill>
                <a:latin typeface="Inter Tight"/>
              </a:rPr>
              <a:t>Честно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4200" b="1">
                <a:solidFill>
                  <a:srgbClr val="F2F4F3"/>
                </a:solidFill>
                <a:latin typeface="Inter Tight"/>
              </a:rPr>
              <a:t>Чего мы измерить не смогли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97480"/>
            <a:ext cx="6858000" cy="2880360"/>
          </a:xfrm>
          <a:prstGeom prst="roundRect">
            <a:avLst>
              <a:gd name="adj" fmla="val 4500"/>
            </a:avLst>
          </a:prstGeom>
          <a:solidFill>
            <a:srgbClr val="23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0175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1">
                <a:solidFill>
                  <a:srgbClr val="F2F4F3"/>
                </a:solidFill>
                <a:latin typeface="Inter Tight"/>
              </a:rPr>
              <a:t>Точность фильтрации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566160"/>
            <a:ext cx="6035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8B949E"/>
                </a:solidFill>
                <a:latin typeface="Inter Tight"/>
              </a:rPr>
              <a:t>В реестре заказчика нет ни одной нерелевантной карточки — сравнивать не с чем. Заявленные 80 % на таких данных неизмеримы в принципе: тривиальный классификатор «всё релевантно» даёт здесь 100 %. Нужен размеченный набор с отрицательными примерами; это открытый вопрос к заказчику.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697480"/>
            <a:ext cx="3474720" cy="1371600"/>
          </a:xfrm>
          <a:prstGeom prst="roundRect">
            <a:avLst>
              <a:gd name="adj" fmla="val 45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9260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>
                <a:solidFill>
                  <a:srgbClr val="F2F4F3"/>
                </a:solidFill>
                <a:latin typeface="Inter Tight"/>
              </a:rPr>
              <a:t>Новостная схема занижает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3273552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8B949E"/>
                </a:solidFill>
                <a:latin typeface="Inter Tight"/>
              </a:rPr>
              <a:t>Отсюда единственный провал важного.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206240"/>
            <a:ext cx="3474720" cy="1371600"/>
          </a:xfrm>
          <a:prstGeom prst="roundRect">
            <a:avLst>
              <a:gd name="adj" fmla="val 45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44348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>
                <a:solidFill>
                  <a:srgbClr val="F2F4F3"/>
                </a:solidFill>
                <a:latin typeface="Inter Tight"/>
              </a:rPr>
              <a:t>Живой сбор выключен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4782312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8B949E"/>
                </a:solidFill>
                <a:latin typeface="Inter Tight"/>
              </a:rPr>
              <a:t>Обработка не успевает за сбором. Показываем срез.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1">
                <a:solidFill>
                  <a:srgbClr val="43B02A"/>
                </a:solidFill>
                <a:latin typeface="Inter Tight"/>
              </a:rPr>
              <a:t>Что дальше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4200" b="1">
                <a:solidFill>
                  <a:srgbClr val="F2F4F3"/>
                </a:solidFill>
                <a:latin typeface="Inter Tight"/>
              </a:rPr>
              <a:t>Три шага после хакатона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698480" cy="960120"/>
          </a:xfrm>
          <a:prstGeom prst="roundRect">
            <a:avLst>
              <a:gd name="adj" fmla="val 45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87121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>
                <a:solidFill>
                  <a:srgbClr val="43B02A"/>
                </a:solidFill>
                <a:latin typeface="Inter Tight"/>
              </a:rPr>
              <a:t>Ближайшее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83464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8B949E"/>
                </a:solidFill>
                <a:latin typeface="Inter Tight"/>
              </a:rPr>
              <a:t>Разметить с заказчиком 50 материалов, включая нерелевантные. Без отрицательных примеров точность фильтрации измерить нельзя — сейчас это главный пробел, а не догадка.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94760"/>
            <a:ext cx="10698480" cy="960120"/>
          </a:xfrm>
          <a:prstGeom prst="roundRect">
            <a:avLst>
              <a:gd name="adj" fmla="val 4500"/>
            </a:avLst>
          </a:prstGeom>
          <a:solidFill>
            <a:srgbClr val="23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401421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>
                <a:solidFill>
                  <a:srgbClr val="43B02A"/>
                </a:solidFill>
                <a:latin typeface="Inter Tight"/>
              </a:rPr>
              <a:t>Затем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97764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8B949E"/>
                </a:solidFill>
                <a:latin typeface="Inter Tight"/>
              </a:rPr>
              <a:t>Починить занижение новостной схемы: few-shot из карточек реестра с непрямой связью. Отсюда единственный провал важного, и чинится он в одном месте.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10698480" cy="960120"/>
          </a:xfrm>
          <a:prstGeom prst="roundRect">
            <a:avLst>
              <a:gd name="adj" fmla="val 45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15721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>
                <a:solidFill>
                  <a:srgbClr val="43B02A"/>
                </a:solidFill>
                <a:latin typeface="Inter Tight"/>
              </a:rPr>
              <a:t>Пилот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512064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8B949E"/>
                </a:solidFill>
                <a:latin typeface="Inter Tight"/>
              </a:rPr>
              <a:t>Второй профиль компании — «Триколор» назывался заказчиком как кандидат. Система масштабируется сменой конфига, а не переписыванием: методика уже вынесена в отдельный файл.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63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>
                <a:solidFill>
                  <a:srgbClr val="8B949E"/>
                </a:solidFill>
                <a:latin typeface="Inter Tight"/>
              </a:rPr>
              <a:t>Открытых задач в спецификации: 17. Открытых вопросов к заказчику: 16, три помечены первоочередными.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1">
                <a:solidFill>
                  <a:srgbClr val="43B02A"/>
                </a:solidFill>
                <a:latin typeface="Inter Tight"/>
              </a:rPr>
              <a:t>Команда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4000" b="1">
                <a:solidFill>
                  <a:srgbClr val="F2F4F3"/>
                </a:solidFill>
                <a:latin typeface="Inter Tight"/>
              </a:rPr>
              <a:t>Кто что сделал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10698480" cy="1078992"/>
          </a:xfrm>
          <a:prstGeom prst="roundRect">
            <a:avLst>
              <a:gd name="adj" fmla="val 45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2585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>
                <a:solidFill>
                  <a:srgbClr val="F2F4F3"/>
                </a:solidFill>
                <a:latin typeface="Inter Tight"/>
              </a:rPr>
              <a:t>Левочкин Егор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60604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>
                <a:solidFill>
                  <a:srgbClr val="43B02A"/>
                </a:solidFill>
                <a:latin typeface="Inter Tight"/>
              </a:rPr>
              <a:t>AI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240280"/>
            <a:ext cx="57607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8B949E"/>
                </a:solidFill>
                <a:latin typeface="Inter Tight"/>
              </a:rPr>
              <a:t>Спецификация, методика оценки, ADR, исследование рынка, работа с заказчиком.
Инженерно: фронтенд целиком, формула индекса, заземление, стенд замера качества, развёртывание.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225856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2000"/>
              </a:lnSpc>
            </a:pPr>
            <a:r>
              <a:rPr sz="1250" b="0">
                <a:solidFill>
                  <a:srgbClr val="8B949E"/>
                </a:solidFill>
                <a:latin typeface="Inter Tight"/>
              </a:rPr>
              <a:t>36 коммитов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82696"/>
            <a:ext cx="10698480" cy="1078992"/>
          </a:xfrm>
          <a:prstGeom prst="roundRect">
            <a:avLst>
              <a:gd name="adj" fmla="val 4500"/>
            </a:avLst>
          </a:prstGeom>
          <a:solidFill>
            <a:srgbClr val="23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48386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>
                <a:solidFill>
                  <a:srgbClr val="F2F4F3"/>
                </a:solidFill>
                <a:latin typeface="Inter Tight"/>
              </a:rPr>
              <a:t>Головаш Денис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83133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>
                <a:solidFill>
                  <a:srgbClr val="43B02A"/>
                </a:solidFill>
                <a:latin typeface="Inter Tight"/>
              </a:rPr>
              <a:t>AI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465576"/>
            <a:ext cx="57607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8B949E"/>
                </a:solidFill>
                <a:latin typeface="Inter Tight"/>
              </a:rPr>
              <a:t>Слой работы с моделью: провайдер с резервным и кешем, контракты ответов, тесты заземления.
Связывание материалов с досье НПА, канонические идентификаторы актов, эскалация по реестру.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3483864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2000"/>
              </a:lnSpc>
            </a:pPr>
            <a:r>
              <a:rPr sz="1250" b="0">
                <a:solidFill>
                  <a:srgbClr val="8B949E"/>
                </a:solidFill>
                <a:latin typeface="Inter Tight"/>
              </a:rPr>
              <a:t>10 коммитов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07992"/>
            <a:ext cx="10698480" cy="1078992"/>
          </a:xfrm>
          <a:prstGeom prst="roundRect">
            <a:avLst>
              <a:gd name="adj" fmla="val 45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709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>
                <a:solidFill>
                  <a:srgbClr val="F2F4F3"/>
                </a:solidFill>
                <a:latin typeface="Inter Tight"/>
              </a:rPr>
              <a:t>Артемьев Иван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505663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>
                <a:solidFill>
                  <a:srgbClr val="43B02A"/>
                </a:solidFill>
                <a:latin typeface="Inter Tight"/>
              </a:rPr>
              <a:t>AI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690872"/>
            <a:ext cx="57607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8B949E"/>
                </a:solidFill>
                <a:latin typeface="Inter Tight"/>
              </a:rPr>
              <a:t>Сбор с живых источников, тип материала на источнике, кластеризация дублей.
Хранилище и контейнеризация: перевод на SQLite, docker compose, окружение.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470916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2000"/>
              </a:lnSpc>
            </a:pPr>
            <a:r>
              <a:rPr sz="1250" b="0">
                <a:solidFill>
                  <a:srgbClr val="8B949E"/>
                </a:solidFill>
                <a:latin typeface="Inter Tight"/>
              </a:rPr>
              <a:t>5 коммитов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06440"/>
            <a:ext cx="7680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F2F4F3"/>
                </a:solidFill>
                <a:latin typeface="Inter Tight"/>
              </a:rPr>
              <a:t>Фактическая доля в коде: </a:t>
            </a:r>
            <a:r>
              <a:rPr sz="1300" b="0">
                <a:solidFill>
                  <a:srgbClr val="8B949E"/>
                </a:solidFill>
                <a:latin typeface="Inter Tight"/>
              </a:rPr>
              <a:t>backend — Левочкин 65 %, Артемьев 19 %, Головаш 16 %; фронтенд и спецификация — Левочкин. Считано по добавленным строкам в истории репозитория.</a:t>
            </a:r>
          </a:p>
        </p:txBody>
      </p:sp>
      <p:pic>
        <p:nvPicPr>
          <p:cNvPr id="21" name="Picture 20" descr="qr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5532120"/>
            <a:ext cx="1143000" cy="1143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802575" y="58064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2000"/>
              </a:lnSpc>
            </a:pPr>
            <a:r>
              <a:rPr sz="1300" b="1">
                <a:solidFill>
                  <a:srgbClr val="F2F4F3"/>
                </a:solidFill>
                <a:latin typeface="Inter Tight"/>
              </a:rPr>
              <a:t>185.56.162.154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2575" y="61081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2000"/>
              </a:lnSpc>
            </a:pPr>
            <a:r>
              <a:rPr sz="1050" b="0">
                <a:solidFill>
                  <a:srgbClr val="8B949E"/>
                </a:solidFill>
                <a:latin typeface="Inter Tight"/>
              </a:rPr>
              <a:t>github.com/veceloe/ai-gpr-center-cifra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1">
                <a:solidFill>
                  <a:srgbClr val="9AA1AB"/>
                </a:solidFill>
                <a:latin typeface="Inter Tight"/>
              </a:rPr>
              <a:t>Приложение, если спросят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3000" b="1">
                <a:solidFill>
                  <a:srgbClr val="231F20"/>
                </a:solidFill>
                <a:latin typeface="Inter Tight"/>
              </a:rPr>
              <a:t>Разбор оценки: шесть критериев и заземление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B7280"/>
                </a:solidFill>
                <a:latin typeface="Inter Tight"/>
              </a:rPr>
              <a:t>Слева цитата из оригинала под каждым утверждением. Справа балл, вклад в индекс и обоснование по каждому критерию.</a:t>
            </a:r>
          </a:p>
        </p:txBody>
      </p:sp>
      <p:sp>
        <p:nvSpPr>
          <p:cNvPr id="6" name="Rectangle 5"/>
          <p:cNvSpPr/>
          <p:nvPr/>
        </p:nvSpPr>
        <p:spPr>
          <a:xfrm>
            <a:off x="1542135" y="1801368"/>
            <a:ext cx="9107424" cy="45436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ot_breakdow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567" y="1828800"/>
            <a:ext cx="9052560" cy="44887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1">
                <a:solidFill>
                  <a:srgbClr val="9AA1AB"/>
                </a:solidFill>
                <a:latin typeface="Inter Tight"/>
              </a:rPr>
              <a:t>Приложение, если спросят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3000" b="1">
                <a:solidFill>
                  <a:srgbClr val="231F20"/>
                </a:solidFill>
                <a:latin typeface="Inter Tight"/>
              </a:rPr>
              <a:t>Досье НПА: стадии, хронология, динамика влияния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B7280"/>
                </a:solidFill>
                <a:latin typeface="Inter Tight"/>
              </a:rPr>
              <a:t>Стадия «Обсуждение» помечена неприменимой, а не непройденной: российские акты стадии пропускают, и линейная шкала без этого состояния лжёт.</a:t>
            </a:r>
          </a:p>
        </p:txBody>
      </p:sp>
      <p:sp>
        <p:nvSpPr>
          <p:cNvPr id="6" name="Rectangle 5"/>
          <p:cNvSpPr/>
          <p:nvPr/>
        </p:nvSpPr>
        <p:spPr>
          <a:xfrm>
            <a:off x="1542135" y="1801368"/>
            <a:ext cx="9107424" cy="45436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ot_a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567" y="1828800"/>
            <a:ext cx="9052560" cy="44887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