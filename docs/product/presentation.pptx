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822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1" cap="all" spc="160">
                <a:solidFill>
                  <a:srgbClr val="C9A227"/>
                </a:solidFill>
                <a:latin typeface="Inter Tight"/>
              </a:rPr>
              <a:t>ITMO AI Product Hack</a:t>
            </a:r>
            <a:r>
              <a:rPr sz="1100" b="1" cap="all" spc="160">
                <a:solidFill>
                  <a:srgbClr val="9DAAC8"/>
                </a:solidFill>
                <a:latin typeface="Inter Tight"/>
              </a:rPr>
              <a:t>     Промежуточная защита · 04.09.2026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8778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50" b="0">
                <a:solidFill>
                  <a:srgbClr val="9DAAC8"/>
                </a:solidFill>
                <a:latin typeface="Inter Tight"/>
              </a:rPr>
              <a:t>Отраслевые новости и нормативные акты, оценённые по влиянию на конкретную компанию — с раскрытой методикой и проверяемым обоснованием каждого балла.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07492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Заказчик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ООО «Цифра» (GS Labs)
Ярослав Якимов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GitHub Spec Kit
Спецификация ведёт код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Состояние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Backend реализован,
89 тестов проходят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Проблематика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nter Tight"/>
              </a:rPr>
              <a:t>Три-четыре часа в день уходят на то,
чтобы просто собрать информацию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3–4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ежедневно на ручной мониторинг СМИ, регуляторов и Telegram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карточек в Excel-реестре, который ведётся руками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C9A227"/>
                </a:solidFill>
                <a:latin typeface="Inter Tight"/>
              </a:rPr>
              <a:t>≈630 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в год на специалиста — потенциал высвобождения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уже пробовали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6344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ИИ-саммаризация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собрать материал для модели всё равно приходилось руками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Excel-реестр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«as is неудобно и ДОЛГО»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Медиамониторинг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«не решает основную задачу»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34340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Риск немониторинга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Пропущенное регуляторное изменение — это штрафы, проверки и тяжбы.
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ПП № 1937</a:t>
            </a:r>
          </a:p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 — требования к реестровому ПО с 01.09.2026.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Законопроект № 1215252-8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переход на реестровые CAS/DRM с 01.01.2027, прямое влияние на ключевой продукт.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Источник: описание кейса, Q&amp;A и созвон с заказчиком 02.09.2026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Постановка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Сократить путь от разрозненных источников
до релевантного рабочего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PR-специалист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Репутация и инфоповоды. Читает, решает: писать, реагировать, передать в работу или пропустить.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20" y="2606040"/>
            <a:ext cx="457200" cy="457200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64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GR-специалист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НПА и инициативы регуляторов. Держит документ на контроле месяцами — до вступления в силу.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21040" y="2606040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РУК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Руководитель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Получатель. Ему нужен контекст для решения, а не таблица на сорок столбцов.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720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69848" y="48006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B2A5B"/>
                </a:solidFill>
                <a:latin typeface="Inter Tight"/>
              </a:rPr>
              <a:t>«Задача — мониторинг и аналитика для принятия управленческих решений»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541324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5B667A"/>
                </a:solidFill>
                <a:latin typeface="Inter Tight"/>
              </a:rPr>
              <a:t>Ирина Распопина, GS Labs — о том, почему готовые системы медиамониторинга не подходят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8006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Ценность — не «что произошло», а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что это значит для нас</a:t>
            </a:r>
            <a:r>
              <a:rPr sz="1250" b="0">
                <a:solidFill>
                  <a:srgbClr val="5B667A"/>
                </a:solidFill>
                <a:latin typeface="Inter Tight"/>
              </a:rPr>
              <a:t>. Материал без связи с профилем компании — шум.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пользовательских историй · 50 требований FR-### · 13 критериев SC-###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Рынок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Поле не пустое — и это надо знать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Аналоги существуют. Ни один не раскрывает методику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38728" y="22860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Первоисточники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28600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 влияния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9288" y="22860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Цикл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8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Цена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724912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Brand Analytics, Медиалогия, СКАН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724912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724912"/>
            <a:ext cx="25877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тональность и охват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724912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6608" y="2724912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33 тыс. ₽/мес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46704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КонсультантПлюс, ГАРАНТ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3346704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3346704"/>
            <a:ext cx="2587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фильтр по отрасли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346704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частично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36608" y="334670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5 тыс. 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07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03904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ПравоИнициативы, Сорегулирование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380390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0368" y="3822192"/>
            <a:ext cx="2002536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заявлена, не раскрыта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3803904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803904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360 тыс. ₽/год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3525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425696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Наше решение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8728" y="4425696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30368" y="4443984"/>
            <a:ext cx="1508760" cy="24688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раскрыта: К1–К6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4425696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 плане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4425696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внутренний инструмент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097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02920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2578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Медиамониторинг опаздывает структурно.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Новость о законе — сигнал постфактум. Brand Analytics не заявляет сайты госорганов в источниках вообще.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Свободная ниша.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Сравнение редакций законопроекта между чтениями не закрыл никто: из восьми мировых трекеров настоящий diff есть у одного.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Разобрано ~40 продуктов по 6 направлениям · docs/competitive-research.md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g_pan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74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 Tight"/>
              </a:rPr>
              <a:t>Модель выставляет баллы.
Индекс считает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3840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350" b="0">
                <a:solidFill>
                  <a:srgbClr val="9DAAC8"/>
                </a:solidFill>
                <a:latin typeface="Inter Tight"/>
              </a:rPr>
              <a:t>У заказчика есть работающая методика: шесть критериев с весами, формула и шкала категорий. Мы её не заменяем — мы делаем её исполнимой.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572000"/>
            <a:ext cx="3794760" cy="1371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48006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C9A227"/>
                </a:solidFill>
                <a:latin typeface="Inter Tight"/>
              </a:rPr>
              <a:t>ИВ = Σ(балл × вес) / 3 ×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523036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Шкала категорий: 0 · 25 · 50 · 75 · 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097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Что делает 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44752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Балл 0–3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по каждому критерию К1–К6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Обоснование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со ссылкой на факт из материала и пункт профиля компании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Кандидат во флаг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только дословной формулировкой из закрытого списка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3401568"/>
            <a:ext cx="566928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делает код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959352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Индекс по формуле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и категорию по шкале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Флаги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поднимают категорию на ступень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Релевантность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выводится из К1 — отдельный вызов не нужен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ADR-0003 · в контракте ответа модели полей «категория» и «индекс» нет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Схема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Конвейер обработки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RSS, страницы регуляторов, Telegram. Дедупликация по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633472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Саммари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3–5 утверждений, к каждому дословная цитата.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425696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Заземление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Вхождение цитаты — код. Следует ли утверждение — модель.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217920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Классификация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Новость или НПА: определяет схему оценки.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010144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Оценка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Модель даёт баллы, код считает индекс.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80236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Лента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По убыванию влияния, фильтры и поиск.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06240"/>
            <a:ext cx="6583680" cy="16916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2416" y="443484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1B2A5B"/>
                </a:solidFill>
                <a:latin typeface="Inter Tight"/>
              </a:rPr>
              <a:t>Почему заземление в две ступени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" y="477316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Проверки вхождения цитаты недостаточно: настоящая цитата, не подтверждающая утверждение, проходит поиск по тексту. По измерению Stanford RegLab это главный класс ошибок —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17% у Lexis+ AI, 33% у Westlaw</a:t>
            </a:r>
            <a:r>
              <a:rPr sz="1250" b="0">
                <a:solidFill>
                  <a:srgbClr val="5B667A"/>
                </a:solidFill>
                <a:latin typeface="Inter Tight"/>
              </a:rPr>
              <a:t>, оба на RAG и оба продавались как «hallucination-free».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434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не теряется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73168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Отбракованное сохраняется с причиной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Отказ модели не теряет материал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Правка человека не перезаписывается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ADR-0007 · backend/src/pipeline/grounding.py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Выполненные этапы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Слой до кода собран, backend реализован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Продукт и 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Конституция проекта: 6 принципов, три необсуждаемые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Спецификация: 7 историй, 50 требований, 13 критериев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Модель данных, контракты API и вызовов модели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8 ADR, 7 гипотез, бизнес-кейс, 14 вопросов заказчику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Исследование рынка: ~40 продуктов, 31 находка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Реализация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487168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Сбор из трёх типов источников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Конвейер: саммари, заземление, классификация, оценка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Формула индекса и шкала категорий в конфиге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Лента, фильтры, поиск, ручное редактирование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Профили компании и переоценка при переключении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2803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задачи закрыты из 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тестов, все проходят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5 735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строк backend с тестами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Спецификация ведёт код: каждая задача ссылается на требование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Первые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Формула воспроизводит методику заказчика точно</a:t>
            </a:r>
          </a:p>
        </p:txBody>
      </p:sp>
      <p:pic>
        <p:nvPicPr>
          <p:cNvPr id="5" name="Picture 4" descr="bg_st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94560"/>
            <a:ext cx="3200400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8408" y="248716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Inter Tight"/>
              </a:rPr>
              <a:t>42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31012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C8D4EE"/>
                </a:solidFill>
                <a:latin typeface="Inter Tight"/>
              </a:rPr>
              <a:t>карточки реестра — совпадение индекса и итоговой категории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06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Ещё замерено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262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7–24 мс отклик фильтров при цели «менее секунды»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0 незаземлённых утверждений проходит в саммари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Баллы К1–К6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Excel заказчика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1945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Наш расчёт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505456"/>
            <a:ext cx="731520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633472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1 · CAS DRM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3 2 3 0 0 3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633472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962656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035808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 · ФЗ № 243-ФЗ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3 3 1 1 0 0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3035808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3364992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3438144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22 · ПП № 402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3 3 2 2 1 3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438144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767328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97763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9DAAC8"/>
                </a:solidFill>
                <a:latin typeface="Inter Tight"/>
              </a:rPr>
              <a:t>Индекс 65 даёт «Среднее», флаг эскалации поднимает до «Высокого» — совпало тоже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4805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Дефекты, найденные при реализации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0060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Схема оценки сравнивалась через тождество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оценка НПА молча уходила в схему новостей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Кириллица в JSON хранилась экранированной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поиск не находил ничего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python -m src.cli verify-formula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показываем и что честно назвать незакрытым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3108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2468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E7D5B"/>
                </a:solidFill>
                <a:latin typeface="Inter Tight"/>
              </a:rPr>
              <a:t>Сценарий 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78892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Добавление источника и запуск сбора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Лента, отсортированная по влиянию на компанию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Карточка: шесть баллов с обоснованием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Наведение на утверждение — цитата из оригинала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Правка балла — индекс пересчитывается сразу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Переключение профиля — порядок ленты меняется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120640" cy="3108960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66560" y="24688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0791F"/>
                </a:solidFill>
                <a:latin typeface="Inter Tight"/>
              </a:rPr>
              <a:t>Чего пока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389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Фронтенда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сейчас API и автодокументация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Досье НПА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главное отличие, следующий приоритет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Дедупликации и дайджеста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приоритет пересмотрен вверх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Измерения на живой модели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конвейер верен, качество не измерено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Инфраструктура.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Пайплайн деплоя написан: сборка, доставка, health-проба. Два внешних блокера — Actions падает на старте по причине уровня аккаунта, порт 22 сервера не отвечает. Запасной путь развёртывания готов и не зависит от обоих.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Локальный запуск — backend/README.md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может не сработать и как это проверяется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1728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2286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Как снимаем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24912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H-01: профиля компании в промпте недостаточно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743200"/>
            <a:ext cx="1179576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критический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724912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Прогон на 42 карточках с эталонными баллами. Если не подтвердится — фильтр по профилю плюс few-shot.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346704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Профиль GS Labs восстановлен нами, не подтверждён заказчиком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3364992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3346704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Вопрос OQ-01 заказчику. Единственное, что нельзя закрыть кодом.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68496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42 карточек мало для значимости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1728" y="398678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3968496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Заявляем как проверку на данных заказчика, не как бенчмарк. Расширение — OQ-08.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5171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590288"/>
            <a:ext cx="3822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Отказ внешнего API во время защиты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4608576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средний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590288"/>
            <a:ext cx="5102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Резервный провайдер модели и кеш ответов.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9743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47488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Сервер и CI недоступны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81728" y="5065776"/>
            <a:ext cx="126187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реализовался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047488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Запасной путь развёртывания с рабочей машины теми же шагами.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596128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5632704"/>
            <a:ext cx="10881360" cy="585216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8408" y="5751576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C0791F"/>
                </a:solidFill>
                <a:latin typeface="Inter Tight"/>
              </a:rPr>
              <a:t>Чего мы не будем делать.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Не добавляем «вероятность принятия законопроекта»: доля принимаемых актов — единицы процентов: модель, всегда отвечающая «не пройдёт», даёт ~95% точности и бесполезна. Ровно на этом FiscalNote потеряла заявленную ценность.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гипотез с порогами принятия — docs/hypotheses.md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План до финальной защиты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Порядок работ и правило остановки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265176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24128" y="2450592"/>
            <a:ext cx="384048" cy="384048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42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1B2A5B"/>
                </a:solidFill>
                <a:latin typeface="Inter Tight"/>
              </a:rPr>
              <a:t>Доказать ценность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632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Отправить заказчику OQ-01 и OQ-08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Прогон на эталоне: базовая ставка, recall, precision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Разбор ошибок, правка промптов, повторный замер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Фронтенд ленты и карточки с раскрытой оценкой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5120640" cy="26517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766560" y="2450592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5420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Отличие от конкурентов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632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Досье НПА: стадии, хронология, история оценок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Четыре состояния стадии, включая «неприменима»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Дедупликация с гейтом по общим сущностям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Дайджест под получателя и выгрузка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12064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C0392B"/>
                </a:solidFill>
                <a:latin typeface="Inter Tight"/>
              </a:rPr>
              <a:t>Правило остановки.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Если досье НПА не закрыто — не начинаем дедупликацию и дайджест. Досье отвечает на вопрос «чем вы лучше существующих решений», остальное нет.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34924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Что скажем про качество.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Только измеренную величину с базовой ставкой рядом. Формулировка «без галлюцинаций» запрещена внутренним правилом проекта.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51 задача осталась · specs/001-ai-monitoring-center/tasks.md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Роли, зоны ответственности и участие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50976" y="2423160"/>
            <a:ext cx="566928" cy="5669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E1428"/>
                </a:solidFill>
                <a:latin typeface="Inter Tight"/>
              </a:rPr>
              <a:t>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Product · 1 курс · @veceloe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Продуктовая постановка, спецификация и ADR, методика оценки, гипотезы, исследование рынка, заказчик. Инженерно — парсинг и фронтенд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54296" y="2423160"/>
            <a:ext cx="566928" cy="566928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ГД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@denizzzz_ka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LLM-слой целиком: провайдер с резервным и кешем, версионированные промпты, схемы ответов, заземление, качество оценки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57616" y="2423160"/>
            <a:ext cx="566928" cy="566928"/>
          </a:xfrm>
          <a:prstGeom prst="ellipse">
            <a:avLst/>
          </a:prstGeom>
          <a:solidFill>
            <a:srgbClr val="4A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АИ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@s3drmn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Backend: модель данных, конвейер обработки, API по контракту, хранилище, развёртывание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34924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53212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Tight"/>
              </a:rPr>
              <a:t>Как организована работа.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Границей между дорожками служит контракт API, зафиксированный до кодирования — дорожки не блокируют друг друга.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Tight"/>
              </a:rPr>
              <a:t>Вклад AI Product в код.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Три продуктовых решения доведены до строчки кода и до теста, который их защищает.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