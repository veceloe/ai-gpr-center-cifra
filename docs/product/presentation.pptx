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1" spc="200">
                <a:solidFill>
                  <a:srgbClr val="8B949E"/>
                </a:solidFill>
                <a:latin typeface="Inter Tight"/>
              </a:rPr>
              <a:t>ITMO AI PRODUCT HACK · КЕЙС ООО «ЦИФРА»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97480"/>
            <a:ext cx="106984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200" b="1">
                <a:solidFill>
                  <a:srgbClr val="F2F4F3"/>
                </a:solidFill>
                <a:latin typeface="Inter Tight"/>
              </a:rPr>
              <a:t>Мониторинг,
который отвечает
на вопрос </a:t>
            </a:r>
            <a:r>
              <a:rPr sz="6200" b="1">
                <a:solidFill>
                  <a:srgbClr val="43B02A"/>
                </a:solidFill>
                <a:latin typeface="Inter Tight"/>
              </a:rPr>
              <a:t>«и что?»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4068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8B949E"/>
                </a:solidFill>
                <a:latin typeface="Inter Tight"/>
              </a:rPr>
              <a:t>Интеллектуальный центр PR/GR-мониторинга для GS Labs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4754880"/>
            <a:ext cx="137160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51215" y="62362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200" b="1">
                <a:solidFill>
                  <a:srgbClr val="F2F4F3"/>
                </a:solidFill>
                <a:latin typeface="Inter Tight"/>
              </a:rPr>
              <a:t>185.56.162.154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43B02A"/>
                </a:solidFill>
                <a:latin typeface="Inter Tight"/>
              </a:rPr>
              <a:t>ЗАЧЕМ ЭТО ВООБЩЕ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5000" b="1">
                <a:solidFill>
                  <a:srgbClr val="F2F4F3"/>
                </a:solidFill>
                <a:latin typeface="Inter Tight"/>
              </a:rPr>
              <a:t>630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>
                <a:solidFill>
                  <a:srgbClr val="43B02A"/>
                </a:solidFill>
                <a:latin typeface="Inter Tight"/>
              </a:rPr>
              <a:t>часов в год у одного специалиста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8B949E"/>
                </a:solidFill>
                <a:latin typeface="Inter Tight"/>
              </a:rPr>
              <a:t>Столько уходит на ручное чтение лент, порталов регуляторов и телеграм-каналов. Ориентир заказчика — разбирать суточную повестку за 10–15 минут.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4572000" cy="356616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28600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8B949E"/>
                </a:solidFill>
                <a:latin typeface="Inter Tight"/>
              </a:rPr>
              <a:t>Агрегаторы отвечают, </a:t>
            </a:r>
            <a:r>
              <a:rPr sz="2100" b="1">
                <a:solidFill>
                  <a:srgbClr val="F2F4F3"/>
                </a:solidFill>
                <a:latin typeface="Inter Tight"/>
              </a:rPr>
              <a:t>что интересного произошло</a:t>
            </a:r>
            <a:r>
              <a:rPr sz="2100" b="0">
                <a:solidFill>
                  <a:srgbClr val="8B949E"/>
                </a:solidFill>
                <a:latin typeface="Inter Tight"/>
              </a:rPr>
              <a:t>.
GR-специалисту нужен другой ответ: </a:t>
            </a:r>
            <a:r>
              <a:rPr sz="2100" b="1">
                <a:solidFill>
                  <a:srgbClr val="43B02A"/>
                </a:solidFill>
                <a:latin typeface="Inter Tight"/>
              </a:rPr>
              <a:t>что из этого касается нашей компании</a:t>
            </a:r>
            <a:r>
              <a:rPr sz="2100" b="0">
                <a:solidFill>
                  <a:srgbClr val="8B949E"/>
                </a:solidFill>
                <a:latin typeface="Inter Tight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docs/business-case.md · расчёт согласован с заказчиком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F2F4F3"/>
                </a:solidFill>
                <a:latin typeface="Inter Tight"/>
              </a:rPr>
              <a:t>Модель выставляет баллы.
</a:t>
            </a:r>
            <a:r>
              <a:rPr sz="5200" b="1">
                <a:solidFill>
                  <a:srgbClr val="43B02A"/>
                </a:solidFill>
                <a:latin typeface="Inter Tight"/>
              </a:rPr>
              <a:t>Индекс считает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4663440" cy="18288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204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spc="180">
                <a:solidFill>
                  <a:srgbClr val="8B949E"/>
                </a:solidFill>
                <a:latin typeface="Inter Tight"/>
              </a:rPr>
              <a:t>МОДЕЛЬ ОТДАЁТ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1">
                <a:solidFill>
                  <a:srgbClr val="F2F4F3"/>
                </a:solidFill>
                <a:latin typeface="Inter Tight"/>
              </a:rPr>
              <a:t>К1·3   К2·2   К3·3   К4·0   К5·0   К6·3</a:t>
            </a:r>
            <a:r>
              <a:rPr sz="1400" b="0">
                <a:solidFill>
                  <a:srgbClr val="8B949E"/>
                </a:solidFill>
                <a:latin typeface="Inter Tight"/>
              </a:rPr>
              <a:t>
и обоснование к каждому баллу</a:t>
            </a:r>
          </a:p>
        </p:txBody>
      </p:sp>
      <p:sp>
        <p:nvSpPr>
          <p:cNvPr id="7" name="Can 6"/>
          <p:cNvSpPr/>
          <p:nvPr/>
        </p:nvSpPr>
        <p:spPr>
          <a:xfrm>
            <a:off x="5623560" y="4069080"/>
            <a:ext cx="685800" cy="146304"/>
          </a:xfrm>
          <a:prstGeom prst="can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3246120"/>
            <a:ext cx="4754880" cy="182880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3520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spc="180">
                <a:solidFill>
                  <a:srgbClr val="43B02A"/>
                </a:solidFill>
                <a:latin typeface="Inter Tight"/>
              </a:rPr>
              <a:t>КОД ВЫЧИСЛЯЕТ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88620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F2F4F3"/>
                </a:solidFill>
                <a:latin typeface="Inter Tight"/>
              </a:rPr>
              <a:t>65,0</a:t>
            </a:r>
            <a:r>
              <a:rPr sz="2000" b="0">
                <a:solidFill>
                  <a:srgbClr val="8B949E"/>
                </a:solidFill>
                <a:latin typeface="Inter Tight"/>
              </a:rPr>
              <a:t>  →  </a:t>
            </a:r>
            <a:r>
              <a:rPr sz="2000" b="1">
                <a:solidFill>
                  <a:srgbClr val="F2F4F3"/>
                </a:solidFill>
                <a:latin typeface="Inter Tight"/>
              </a:rPr>
              <a:t>Среднее</a:t>
            </a:r>
            <a:r>
              <a:rPr sz="1400" b="0">
                <a:solidFill>
                  <a:srgbClr val="8B949E"/>
                </a:solidFill>
                <a:latin typeface="Inter Tight"/>
              </a:rPr>
              <a:t>
флаг эскалации поднимает до «Высокого»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В контракте ответа модели полей «индекс» и «категория» нет вовсе. </a:t>
            </a:r>
            <a:r>
              <a:rPr sz="1500" b="0">
                <a:solidFill>
                  <a:srgbClr val="8B949E"/>
                </a:solidFill>
                <a:latin typeface="Inter Tight"/>
              </a:rPr>
              <a:t>Она физически не может их вернуть — поэтому оценку можно проверить и поправить.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ADR-0003 · backend/config/scoring.yaml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379123"/>
                </a:solidFill>
                <a:latin typeface="Inter Tight"/>
              </a:rPr>
              <a:t>ВОТ КАК ЭТО ВЫГЛЯДИТ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Цветом отмечены только два верхних уровня серьёзности — сортировка уже сделала главную работу.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f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живой стенд: 185.56.162.154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43B02A"/>
                </a:solidFill>
                <a:latin typeface="Inter Tight"/>
              </a:rPr>
              <a:t>СКОЛЬКО СТОИТ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Год работы модели дешевле,
чем один пропущенный документ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698480" cy="196596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8404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spc="160">
                <a:solidFill>
                  <a:srgbClr val="8B949E"/>
                </a:solidFill>
                <a:latin typeface="Inter Tight"/>
              </a:rPr>
              <a:t>ГОД ОБРАБОТКИ ПОТОКА В 150 МАТЕРИАЛОВ В СУТКИ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187952"/>
            <a:ext cx="36868" cy="27432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416052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43B02A"/>
                </a:solidFill>
                <a:latin typeface="Inter Tight"/>
              </a:rPr>
              <a:t>2 100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817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spc="160">
                <a:solidFill>
                  <a:srgbClr val="8B949E"/>
                </a:solidFill>
                <a:latin typeface="Inter Tight"/>
              </a:rPr>
              <a:t>ОДИН ШТРАФ ПО ФЗ № 295-ФЗ, ВЕРХНЯЯ ГРАНИЦА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029200"/>
            <a:ext cx="8778240" cy="2743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500176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F2F4F3"/>
                </a:solidFill>
                <a:latin typeface="Inter Tight"/>
              </a:rPr>
              <a:t>500 000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F2F4F3"/>
                </a:solidFill>
                <a:latin typeface="Inter Tight"/>
              </a:rPr>
              <a:t>Полосы в одном масштабе, зелёная не увеличена. </a:t>
            </a:r>
            <a:r>
              <a:rPr sz="1400" b="0">
                <a:solidFill>
                  <a:srgbClr val="8B949E"/>
                </a:solidFill>
                <a:latin typeface="Inter Tight"/>
              </a:rPr>
              <a:t>Четыре копейки за материал. Одного пропуска хватает, чтобы перекрыть двести лет работы модели. Курс ЦБ на 05.09.2026.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docs/business-case.md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43B02A"/>
                </a:solidFill>
                <a:latin typeface="Inter Tight"/>
              </a:rPr>
              <a:t>НАСКОЛЬКО ТОЧНО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000" b="1">
                <a:solidFill>
                  <a:srgbClr val="F2F4F3"/>
                </a:solidFill>
                <a:latin typeface="Inter Tight"/>
              </a:rPr>
              <a:t>Проверено на реестре самого заказчика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6858000" cy="32004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1460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spc="160">
                <a:solidFill>
                  <a:srgbClr val="8B949E"/>
                </a:solidFill>
                <a:latin typeface="Inter Tight"/>
              </a:rPr>
              <a:t>42 КАРТОЧКИ · ОДНА КЛЕТКА — ОДНА КАРТОЧКА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619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5681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8064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1868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931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5993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01184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4243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15568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36192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56816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7440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8064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18688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39312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59936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01184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1808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42432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0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5568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36192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56816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40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98064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9312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59936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80560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01184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21808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42432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63056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0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15568" y="4919472"/>
            <a:ext cx="146304" cy="14630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331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18 — точно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95928" y="4919472"/>
            <a:ext cx="146304" cy="14630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3367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20 — на ступень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76288" y="4919472"/>
            <a:ext cx="146304" cy="14630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4 — дальше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20" y="2240280"/>
            <a:ext cx="3474720" cy="1481328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66760" y="24688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43B02A"/>
                </a:solidFill>
                <a:latin typeface="Inter Tight"/>
              </a:rPr>
              <a:t>42 / 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1272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формула сходится с Excel заказчика точно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46720" y="3959352"/>
            <a:ext cx="3474720" cy="1481328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66760" y="4187952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B5757"/>
                </a:solidFill>
                <a:latin typeface="Inter T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провал важного в нижние категории при цели ноль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F2F4F3"/>
                </a:solidFill>
                <a:latin typeface="Inter Tight"/>
              </a:rPr>
              <a:t>Клетки — это модель. </a:t>
            </a:r>
            <a:r>
              <a:rPr sz="1400" b="0">
                <a:solidFill>
                  <a:srgbClr val="8B949E"/>
                </a:solidFill>
                <a:latin typeface="Inter Tight"/>
              </a:rPr>
              <a:t>Она сама выставила баллы. «42 из 42» — это про формулу: получив экспертные баллы, код выдаёт тот же индекс. Путать эти два числа нельзя.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evals/results.md · verify-formula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EB5757"/>
                </a:solidFill>
                <a:latin typeface="Inter Tight"/>
              </a:rPr>
              <a:t>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Чего мы измерить не смогли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97480"/>
            <a:ext cx="6858000" cy="288036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Точность фильтрации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566160"/>
            <a:ext cx="6035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8B949E"/>
                </a:solidFill>
                <a:latin typeface="Inter Tight"/>
              </a:rPr>
              <a:t>В реестре заказчика нет ни одной нерелевантной карточки — сравнивать не с чем. Заявленные 80 % на таких данных неизмеримы в принципе: тривиальный классификатор «всё релевантно» даёт здесь 100 %. Нужен размеченный набор с отрицательными примерами; это открытый вопрос к заказчику.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697480"/>
            <a:ext cx="3474720" cy="13716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926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Новостная схема занижает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27355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Отсюда единственный провал важного.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06240"/>
            <a:ext cx="3474720" cy="13716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44348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Живой сбор выключен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478231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Обработка не успевает за сбором. Показываем срез.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docs/hypotheses.md · specs/…/open-questions.md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43B02A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Кто делал и где посмотреть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1">
                <a:solidFill>
                  <a:srgbClr val="F2F4F3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2724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@veceloe   ·   продукт, парсинг, фронтенд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1">
                <a:solidFill>
                  <a:srgbClr val="F2F4F3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8736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@denizzzz_ka   ·   весь слой работы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1">
                <a:solidFill>
                  <a:srgbClr val="F2F4F3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47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@s3drmn   ·   бэкенд, конвейер, развёртывание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651760"/>
            <a:ext cx="4023360" cy="301752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926080"/>
            <a:ext cx="1920240" cy="1920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185.56.162.154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53218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1150" b="0">
                <a:solidFill>
                  <a:srgbClr val="8B949E"/>
                </a:solidFill>
                <a:latin typeface="Inter Tight"/>
              </a:rPr>
              <a:t>лента, досье и дайджест на живых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8B949E"/>
                </a:solidFill>
                <a:latin typeface="Inter Tight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9AA1AB"/>
                </a:solidFill>
                <a:latin typeface="Inter Tight"/>
              </a:rPr>
              <a:t>ПРИЛОЖЕНИЕ · ДЛЯ ВОПРОСОВ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Разбор оценки: шесть критериев и заземление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Слева цитата из оригинала под каждым утверждением. Справа балл, вклад в индекс и обоснование по каждому критерию.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break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FR-024 · FR-081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 spc="200">
                <a:solidFill>
                  <a:srgbClr val="9AA1AB"/>
                </a:solidFill>
                <a:latin typeface="Inter Tight"/>
              </a:rPr>
              <a:t>ПРИЛОЖЕНИЕ · ДЛЯ ВОПРОСОВ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Досье НПА: стадии, хронология, динамика влияния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Стадия «Обсуждение» помечена неприменимой, а не непройденной: российские акты стадии пропускают, и линейная шкала без этого состояния лжёт.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FR-032 · FR-035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9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