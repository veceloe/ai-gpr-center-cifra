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1">
                <a:solidFill>
                  <a:srgbClr val="8B949E"/>
                </a:solidFill>
                <a:latin typeface="Inter Tight"/>
              </a:rPr>
              <a:t>Кейс ООО «Цифра» для GS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97480"/>
            <a:ext cx="106984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200" b="1">
                <a:solidFill>
                  <a:srgbClr val="F2F4F3"/>
                </a:solidFill>
                <a:latin typeface="Inter Tight"/>
              </a:rPr>
              <a:t>Мониторинг,
который отвечает
на вопрос </a:t>
            </a:r>
            <a:r>
              <a:rPr sz="6200" b="1">
                <a:solidFill>
                  <a:srgbClr val="43B02A"/>
                </a:solidFill>
                <a:latin typeface="Inter Tight"/>
              </a:rPr>
              <a:t>«и что?»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4068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8B949E"/>
                </a:solidFill>
                <a:latin typeface="Inter Tight"/>
              </a:rPr>
              <a:t>Интеллектуальный центр PR/GR-мониторинга для GS Labs</a:t>
            </a:r>
          </a:p>
        </p:txBody>
      </p:sp>
      <p:pic>
        <p:nvPicPr>
          <p:cNvPr id="6" name="Picture 5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4754880"/>
            <a:ext cx="137160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51215" y="62362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200" b="1">
                <a:solidFill>
                  <a:srgbClr val="F2F4F3"/>
                </a:solidFill>
                <a:latin typeface="Inter Tight"/>
              </a:rPr>
              <a:t>185.56.162.154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Зачем это вообще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5000" b="1">
                <a:solidFill>
                  <a:srgbClr val="F2F4F3"/>
                </a:solidFill>
                <a:latin typeface="Inter Tight"/>
              </a:rPr>
              <a:t>630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>
                <a:solidFill>
                  <a:srgbClr val="43B02A"/>
                </a:solidFill>
                <a:latin typeface="Inter Tight"/>
              </a:rPr>
              <a:t>часов в год у одного специалиста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8B949E"/>
                </a:solidFill>
                <a:latin typeface="Inter Tight"/>
              </a:rPr>
              <a:t>Столько уходит на ручное чтение лент, порталов регуляторов и телеграм-каналов. Ориентир заказчика — разбирать суточную повестку за 10–15 минут.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4572000" cy="356616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28600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8B949E"/>
                </a:solidFill>
                <a:latin typeface="Inter Tight"/>
              </a:rPr>
              <a:t>Агрегаторы отвечают, </a:t>
            </a:r>
            <a:r>
              <a:rPr sz="2100" b="1">
                <a:solidFill>
                  <a:srgbClr val="F2F4F3"/>
                </a:solidFill>
                <a:latin typeface="Inter Tight"/>
              </a:rPr>
              <a:t>что интересного произошло</a:t>
            </a:r>
            <a:r>
              <a:rPr sz="2100" b="0">
                <a:solidFill>
                  <a:srgbClr val="8B949E"/>
                </a:solidFill>
                <a:latin typeface="Inter Tight"/>
              </a:rPr>
              <a:t>.
GR-специалисту нужен другой ответ: </a:t>
            </a:r>
            <a:r>
              <a:rPr sz="2100" b="1">
                <a:solidFill>
                  <a:srgbClr val="43B02A"/>
                </a:solidFill>
                <a:latin typeface="Inter Tight"/>
              </a:rPr>
              <a:t>что из этого касается нашей компании</a:t>
            </a:r>
            <a:r>
              <a:rPr sz="2100" b="0">
                <a:solidFill>
                  <a:srgbClr val="8B949E"/>
                </a:solidFill>
                <a:latin typeface="Inter T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Что требовалось сделать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Оценивать каждый материал
с точки зрения одной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43B02A"/>
                </a:solidFill>
                <a:latin typeface="Inter Tight"/>
              </a:rPr>
              <a:t>Собирать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82696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8B949E"/>
                </a:solidFill>
                <a:latin typeface="Inter Tight"/>
              </a:rPr>
              <a:t>СМИ, порталы регуляторов, СОЗД, телеграм-каналы — без ручного обхода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1304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43B02A"/>
                </a:solidFill>
                <a:latin typeface="Inter Tight"/>
              </a:rPr>
              <a:t>Понимать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849624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8B949E"/>
                </a:solidFill>
                <a:latin typeface="Inter Tight"/>
              </a:rPr>
              <a:t>саммари, где каждое утверждение подтверждено цитатой из оригинала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7997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43B02A"/>
                </a:solidFill>
                <a:latin typeface="Inter Tight"/>
              </a:rPr>
              <a:t>Оценивать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4416552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8B949E"/>
                </a:solidFill>
                <a:latin typeface="Inter Tight"/>
              </a:rPr>
              <a:t>по методике заказчика: К1–К6 для НПА, Н1–Н4 для новостей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4690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43B02A"/>
                </a:solidFill>
                <a:latin typeface="Inter Tight"/>
              </a:rPr>
              <a:t>Вести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498348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8B949E"/>
                </a:solidFill>
                <a:latin typeface="Inter Tight"/>
              </a:rPr>
              <a:t>НПА как долгоживущее досье со стадиями и историей влияния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138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43B02A"/>
                </a:solidFill>
                <a:latin typeface="Inter Tight"/>
              </a:rPr>
              <a:t>Отдавать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5550408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8B949E"/>
                </a:solidFill>
                <a:latin typeface="Inter Tight"/>
              </a:rPr>
              <a:t>ленту по влиянию и дайджест под конкретного получателя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Границы работы заданы заранее: без авторизации, промышленной нагрузки и информационной безопасности.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F2F4F3"/>
                </a:solidFill>
                <a:latin typeface="Inter Tight"/>
              </a:rPr>
              <a:t>Модель выставляет баллы.
</a:t>
            </a:r>
            <a:r>
              <a:rPr sz="5200" b="1">
                <a:solidFill>
                  <a:srgbClr val="43B02A"/>
                </a:solidFill>
                <a:latin typeface="Inter Tight"/>
              </a:rPr>
              <a:t>Индекс считает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46120"/>
            <a:ext cx="4663440" cy="18288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204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Модель отдаёт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6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2384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53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и обоснование к каждому баллу</a:t>
            </a:r>
          </a:p>
        </p:txBody>
      </p:sp>
      <p:sp>
        <p:nvSpPr>
          <p:cNvPr id="19" name="Can 18"/>
          <p:cNvSpPr/>
          <p:nvPr/>
        </p:nvSpPr>
        <p:spPr>
          <a:xfrm>
            <a:off x="5623560" y="4069080"/>
            <a:ext cx="685800" cy="146304"/>
          </a:xfrm>
          <a:prstGeom prst="can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0" y="3246120"/>
            <a:ext cx="4754880" cy="182880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3520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43B02A"/>
                </a:solidFill>
                <a:latin typeface="Inter Tight"/>
              </a:rPr>
              <a:t>Код вычисляет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88620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F2F4F3"/>
                </a:solidFill>
                <a:latin typeface="Inter Tight"/>
              </a:rPr>
              <a:t>65,0</a:t>
            </a:r>
            <a:r>
              <a:rPr sz="2000" b="0">
                <a:solidFill>
                  <a:srgbClr val="8B949E"/>
                </a:solidFill>
                <a:latin typeface="Inter Tight"/>
              </a:rPr>
              <a:t>  →  </a:t>
            </a:r>
            <a:r>
              <a:rPr sz="2000" b="1">
                <a:solidFill>
                  <a:srgbClr val="F2F4F3"/>
                </a:solidFill>
                <a:latin typeface="Inter Tight"/>
              </a:rPr>
              <a:t>Среднее</a:t>
            </a:r>
            <a:r>
              <a:rPr sz="1400" b="0">
                <a:solidFill>
                  <a:srgbClr val="8B949E"/>
                </a:solidFill>
                <a:latin typeface="Inter Tight"/>
              </a:rPr>
              <a:t>
флаг эскалации поднимает до «Высокого»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4406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В контракте ответа модели полей «индекс» и «категория» нет вовсе. </a:t>
            </a:r>
            <a:r>
              <a:rPr sz="1500" b="0">
                <a:solidFill>
                  <a:srgbClr val="8B949E"/>
                </a:solidFill>
                <a:latin typeface="Inter Tight"/>
              </a:rPr>
              <a:t>Она физически не может их вернуть — поэтому оценку можно проверить и поправить.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379123"/>
                </a:solidFill>
                <a:latin typeface="Inter Tight"/>
              </a:rPr>
              <a:t>Вот как это выглядит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Цветом отмечены только два верхних уровня серьёзности — сортировка уже сделала главную работу.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fe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Сколько это стоит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Год работы модели дешевле,
чем один пропущенный документ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0698480" cy="196596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8404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Год обработки потока в 150 материалов в сутки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187952"/>
            <a:ext cx="36868" cy="27432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416052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43B02A"/>
                </a:solidFill>
                <a:latin typeface="Inter Tight"/>
              </a:rPr>
              <a:t>2 100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817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Один штраф по ФЗ № 295-ФЗ, верхняя граница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029200"/>
            <a:ext cx="8778240" cy="27432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500176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F2F4F3"/>
                </a:solidFill>
                <a:latin typeface="Inter Tight"/>
              </a:rPr>
              <a:t>500 000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F2F4F3"/>
                </a:solidFill>
                <a:latin typeface="Inter Tight"/>
              </a:rPr>
              <a:t>Полосы в одном масштабе, зелёная не увеличена. </a:t>
            </a:r>
            <a:r>
              <a:rPr sz="1400" b="0">
                <a:solidFill>
                  <a:srgbClr val="8B949E"/>
                </a:solidFill>
                <a:latin typeface="Inter Tight"/>
              </a:rPr>
              <a:t>Четыре копейки за материал. Одного пропуска хватает, чтобы перекрыть двести лет работы модели. Курс ЦБ на 05.09.2026.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Насколько это точно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000" b="1">
                <a:solidFill>
                  <a:srgbClr val="F2F4F3"/>
                </a:solidFill>
                <a:latin typeface="Inter Tight"/>
              </a:rPr>
              <a:t>Проверено на реестре самого заказчика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6858000" cy="32004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1460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Одна клетка — одна карточка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3619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5681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8064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1868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931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5993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01184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4243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305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15568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36192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56816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7440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8064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18688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39312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59936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01184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1808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42432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0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5568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36192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56816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40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98064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9312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59936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80560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01184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21808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42432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63056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0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15568" y="4919472"/>
            <a:ext cx="146304" cy="14630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331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18 — точно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95928" y="4919472"/>
            <a:ext cx="146304" cy="14630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3367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20 — на ступень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76288" y="4919472"/>
            <a:ext cx="146304" cy="14630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1403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4 — дальше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20" y="2240280"/>
            <a:ext cx="3474720" cy="1481328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66760" y="24688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43B02A"/>
                </a:solidFill>
                <a:latin typeface="Inter Tight"/>
              </a:rPr>
              <a:t>42 / 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1272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формула сходится с Excel заказчика точно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46720" y="3959352"/>
            <a:ext cx="3474720" cy="1481328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66760" y="4187952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B5757"/>
                </a:solidFill>
                <a:latin typeface="Inter Tight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провал важного в нижние категории при цели ноль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F2F4F3"/>
                </a:solidFill>
                <a:latin typeface="Inter Tight"/>
              </a:rPr>
              <a:t>Клетки — это модель. </a:t>
            </a:r>
            <a:r>
              <a:rPr sz="1400" b="0">
                <a:solidFill>
                  <a:srgbClr val="8B949E"/>
                </a:solidFill>
                <a:latin typeface="Inter Tight"/>
              </a:rPr>
              <a:t>Она сама выставила баллы. «42 из 42» — это про формулу: получив экспертные баллы, код выдаёт тот же индекс. Путать эти два числа нельзя.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EB5757"/>
                </a:solidFill>
                <a:latin typeface="Inter Tight"/>
              </a:rPr>
              <a:t>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Чего мы измерить не смогли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97480"/>
            <a:ext cx="6858000" cy="288036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Точность фильтрации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566160"/>
            <a:ext cx="6035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8B949E"/>
                </a:solidFill>
                <a:latin typeface="Inter Tight"/>
              </a:rPr>
              <a:t>В реестре заказчика нет ни одной нерелевантной карточки — сравнивать не с чем. Заявленные 80 % на таких данных неизмеримы в принципе: тривиальный классификатор «всё релевантно» даёт здесь 100 %. Нужен размеченный набор с отрицательными примерами; это открытый вопрос к заказчику.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697480"/>
            <a:ext cx="3474720" cy="13716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926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Новостная схема занижает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27355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Отсюда единственный провал важного.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06240"/>
            <a:ext cx="3474720" cy="13716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44348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Живой сбор выключен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478231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Обработка не успевает за сбором. Показываем срез.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Три шага после хакатона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10698480" cy="96012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8712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43B02A"/>
                </a:solidFill>
                <a:latin typeface="Inter Tight"/>
              </a:rPr>
              <a:t>Ближайшее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83464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Разметить с заказчиком 50 материалов, включая нерелевантные. Без отрицательных примеров точность фильтрации измерить нельзя — сейчас это главный пробел, а не догадка.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94760"/>
            <a:ext cx="10698480" cy="96012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40142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43B02A"/>
                </a:solidFill>
                <a:latin typeface="Inter Tight"/>
              </a:rPr>
              <a:t>Затем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97764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Починить занижение новостной схемы: few-shot из карточек реестра с непрямой связью. Отсюда единственный провал важного, и чинится он в одном месте.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698480" cy="96012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51572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43B02A"/>
                </a:solidFill>
                <a:latin typeface="Inter Tight"/>
              </a:rPr>
              <a:t>Пилот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512064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Второй профиль компании — «Триколор» назывался заказчиком как кандидат. Система масштабируется сменой конфига, а не переписыванием: методика уже вынесена в отдельный файл.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Открытых задач в спецификации: 17. Открытых вопросов к заказчику: 16, три помечены первоочередными.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000" b="1">
                <a:solidFill>
                  <a:srgbClr val="F2F4F3"/>
                </a:solidFill>
                <a:latin typeface="Inter Tight"/>
              </a:rPr>
              <a:t>Кто что вёл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10698480" cy="1078992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2585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F2F4F3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60604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3B02A"/>
                </a:solidFill>
                <a:latin typeface="Inter Tight"/>
              </a:rPr>
              <a:t>AI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76856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Спецификация, методика оценки, ADR, исследование рынка, работа с заказчиком.
Инженерно: фронтенд, формула индекса, заземление, стенд замера качества, развёртывание.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82696"/>
            <a:ext cx="10698480" cy="1078992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8386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F2F4F3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3B02A"/>
                </a:solidFill>
                <a:latin typeface="Inter Tight"/>
              </a:rPr>
              <a:t>AI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50215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Слой работы с моделью: провайдер с резервным и кешем, контракты ответов, промпты,
тесты заземления. Связывание материалов с досье НПА, эскалация по реестру.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07992"/>
            <a:ext cx="10698480" cy="1078992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709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F2F4F3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50566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3B02A"/>
                </a:solidFill>
                <a:latin typeface="Inter Tight"/>
              </a:rPr>
              <a:t>AI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727448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Сбор с живых источников, тип материала на источнике, кластеризация дублей.
Модель данных, хранилище и контейнеризация, окружение развёртывания.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06440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F2F4F3"/>
                </a:solidFill>
                <a:latin typeface="Inter Tight"/>
              </a:rPr>
              <a:t>Участие равное. </a:t>
            </a:r>
            <a:r>
              <a:rPr sz="1300" b="0">
                <a:solidFill>
                  <a:srgbClr val="8B949E"/>
                </a:solidFill>
                <a:latin typeface="Inter Tight"/>
              </a:rPr>
              <a:t>Каждый вёл свою зону от постановки до работающего кода и отвечал за неё целиком. Границей между зонами служит контракт API, зафиксированный до кодирования, — дорожки не блокировали друг друга.</a:t>
            </a:r>
          </a:p>
        </p:txBody>
      </p:sp>
      <p:pic>
        <p:nvPicPr>
          <p:cNvPr id="18" name="Picture 17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5532120"/>
            <a:ext cx="1143000" cy="1143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02575" y="5806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300" b="1">
                <a:solidFill>
                  <a:srgbClr val="F2F4F3"/>
                </a:solidFill>
                <a:latin typeface="Inter Tight"/>
              </a:rPr>
              <a:t>185.56.162.154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2575" y="61081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050" b="0">
                <a:solidFill>
                  <a:srgbClr val="8B949E"/>
                </a:solidFill>
                <a:latin typeface="Inter Tight"/>
              </a:rPr>
              <a:t>github.com/veceloe/ai-gpr-center-cifra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9AA1AB"/>
                </a:solidFill>
                <a:latin typeface="Inter Tight"/>
              </a:rPr>
              <a:t>Приложение, если спросят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Разбор оценки: шесть критериев и заземление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Слева цитата из оригинала под каждым утверждением. Справа балл, вклад в индекс и обоснование по каждому критерию.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breakd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9AA1AB"/>
                </a:solidFill>
                <a:latin typeface="Inter Tight"/>
              </a:rPr>
              <a:t>Приложение, если спросят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Досье НПА: стадии, хронология, динамика влияния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Стадия «Обсуждение» помечена неприменимой, а не непройденной: российские акты стадии пропускают, и линейная шкала без этого состояния лжёт.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