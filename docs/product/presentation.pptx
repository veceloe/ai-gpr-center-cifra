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8229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1" cap="all" spc="160">
                <a:solidFill>
                  <a:srgbClr val="C9A227"/>
                </a:solidFill>
                <a:latin typeface="Inter Tight"/>
              </a:rPr>
              <a:t>ITMO AI Product Hack</a:t>
            </a:r>
            <a:r>
              <a:rPr sz="1100" b="1" cap="all" spc="160">
                <a:solidFill>
                  <a:srgbClr val="9DAAC8"/>
                </a:solidFill>
                <a:latin typeface="Inter Tight"/>
              </a:rPr>
              <a:t>     Промежуточная защита · 04.09.2026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87782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Inter Tight"/>
              </a:rPr>
              <a:t>Интеллектуальный центр
PR/GR-мониторинга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550" b="0">
                <a:solidFill>
                  <a:srgbClr val="9DAAC8"/>
                </a:solidFill>
                <a:latin typeface="Inter Tight"/>
              </a:rPr>
              <a:t>Отраслевые новости и нормативные акты, оценённые по влиянию на конкретную компанию — с раскрытой методикой и проверяемым обоснованием каждого балла.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074920"/>
            <a:ext cx="10881360" cy="9525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Заказчик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ООО «Цифра» (GS Labs)
Ярослав Якимов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5349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Метод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56509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GitHub Spec Kit
Спецификация ведёт код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5349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Состояние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6509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Backend реализован,
89 тестов проходят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github.com/veceloe/ai-gpr-center-cifra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Проблематика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nter Tight"/>
              </a:rPr>
              <a:t>Три-четыре часа в день уходят на то,
чтобы просто собрать информацию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87168"/>
            <a:ext cx="3200400" cy="9525"/>
          </a:xfrm>
          <a:prstGeom prst="rect">
            <a:avLst/>
          </a:prstGeom>
          <a:solidFill>
            <a:srgbClr val="3A4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697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Inter Tight"/>
              </a:rPr>
              <a:t>3–4 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1012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ежедневно на ручной мониторинг СМИ, регуляторов и Telegram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1688" y="2487168"/>
            <a:ext cx="3200400" cy="9525"/>
          </a:xfrm>
          <a:prstGeom prst="rect">
            <a:avLst/>
          </a:prstGeom>
          <a:solidFill>
            <a:srgbClr val="3A4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2697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Inter Tight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331012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карточек в Excel-реестре, который ведётся руками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5008" y="2487168"/>
            <a:ext cx="3200400" cy="9525"/>
          </a:xfrm>
          <a:prstGeom prst="rect">
            <a:avLst/>
          </a:prstGeom>
          <a:solidFill>
            <a:srgbClr val="3A4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697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C9A227"/>
                </a:solidFill>
                <a:latin typeface="Inter Tight"/>
              </a:rPr>
              <a:t>≈630 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331012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в год на специалиста — потенциал высвобождения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4340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Что уже пробовали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66344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ИИ-саммаризация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собрать материал для модели всё равно приходилось руками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Excel-реестр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«as is неудобно и ДОЛГО»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Медиамониторинг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«не решает основную задачу»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343400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Риск немониторинга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Пропущенное регуляторное изменение — это штрафы, проверки и тяжбы.
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ПП № 1937</a:t>
            </a:r>
          </a:p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 — требования к реестровому ПО с 01.09.2026.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Законопроект № 1215252-8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переход на реестровые CAS/DRM с 01.01.2027, прямое влияние на ключевой продукт.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Источник: описание кейса, Q&amp;A и созвон с заказчиком 02.09.2026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Постановка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Сократить путь от разрозненных источников
до релевантного рабочего материала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77440"/>
            <a:ext cx="3429000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 Tight"/>
              </a:rPr>
              <a:t>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066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PR-специалист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Репутация и инфоповоды. Читает, решает: писать, реагировать, передать в работу или пропустить.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2377440"/>
            <a:ext cx="3429000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17720" y="2606040"/>
            <a:ext cx="457200" cy="457200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 Tight"/>
              </a:rPr>
              <a:t>GR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4648" y="27066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GR-специалист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НПА и инициативы регуляторов. Держит документ на контроле месяцами — до вступления в силу.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2377440"/>
            <a:ext cx="3429000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21040" y="2606040"/>
            <a:ext cx="457200" cy="4572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 Tight"/>
              </a:rPr>
              <a:t>РУК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27066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Руководитель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4612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Получатель. Ему нужен контекст для решения, а не таблица на сорок столбцов.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72000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F0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69848" y="48006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B2A5B"/>
                </a:solidFill>
                <a:latin typeface="Inter Tight"/>
              </a:rPr>
              <a:t>«Задача — мониторинг и аналитика для принятия управленческих решений»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541324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5B667A"/>
                </a:solidFill>
                <a:latin typeface="Inter Tight"/>
              </a:rPr>
              <a:t>Ирина Распопина, GS Labs — о том, почему готовые системы медиамониторинга не подходят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80060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Ценность — не «что произошло», а </a:t>
            </a:r>
            <a:r>
              <a:rPr sz="1250" b="1">
                <a:solidFill>
                  <a:srgbClr val="0E1428"/>
                </a:solidFill>
                <a:latin typeface="Inter Tight"/>
              </a:rPr>
              <a:t>что это значит для нас</a:t>
            </a:r>
            <a:r>
              <a:rPr sz="1250" b="0">
                <a:solidFill>
                  <a:srgbClr val="5B667A"/>
                </a:solidFill>
                <a:latin typeface="Inter Tight"/>
              </a:rPr>
              <a:t>. Материал без связи с профилем компании — шум.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7 пользовательских историй · 50 требований FR-### · 13 критериев SC-###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Рынок</a:t>
            </a:r>
            <a:r>
              <a:rPr sz="1050" b="1" cap="all" spc="140">
                <a:solidFill>
                  <a:srgbClr val="5B667A"/>
                </a:solidFill>
                <a:latin typeface="Inter Tight"/>
              </a:rPr>
              <a:t>     Поле не пустое — и это надо знать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Аналоги существуют. Ни один не раскрывает методику оценки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38728" y="228600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Первоисточники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28600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Оценка влияния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9288" y="22860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Цикл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36608" y="2286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Цена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59689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724912"/>
            <a:ext cx="2679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Brand Analytics, Медиалогия, СКАН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724912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2724912"/>
            <a:ext cx="25877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нет, тональность и охват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724912"/>
            <a:ext cx="12161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6608" y="2724912"/>
            <a:ext cx="1901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от 33 тыс. ₽/мес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27355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346704"/>
            <a:ext cx="26791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КонсультантПлюс, ГАРАНТ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3346704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3346704"/>
            <a:ext cx="2587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нет, фильтр по отрасли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3346704"/>
            <a:ext cx="1216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частично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36608" y="3346704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от 5 тыс. 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73075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803904"/>
            <a:ext cx="2679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ПравоИнициативы, Сорегулирование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3803904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30368" y="3822192"/>
            <a:ext cx="2002536" cy="246888"/>
          </a:xfrm>
          <a:prstGeom prst="roundRect">
            <a:avLst>
              <a:gd name="adj" fmla="val 50000"/>
            </a:avLst>
          </a:prstGeom>
          <a:solidFill>
            <a:srgbClr val="C0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заявлена, не раскрыта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3803904"/>
            <a:ext cx="12161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3803904"/>
            <a:ext cx="1901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360 тыс. ₽/год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352544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425696"/>
            <a:ext cx="26791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0E1428"/>
                </a:solidFill>
                <a:latin typeface="Inter Tight"/>
              </a:rPr>
              <a:t>Наше решение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8728" y="4425696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230368" y="4443984"/>
            <a:ext cx="1508760" cy="24688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раскрыта: К1–К6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4425696"/>
            <a:ext cx="1216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в плане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8" y="4425696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внутренний инструмент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4809744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029200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52578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Медиамониторинг опаздывает структурно.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Новость о законе — сигнал постфактум. Brand Analytics не заявляет сайты госорганов в источниках вообще.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578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Свободная ниша.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Сравнение редакций законопроекта между чтениями не закрыл никто: из восьми мировых трекеров настоящий diff есть у одного.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Разобрано ~40 продуктов по 6 направлениям · docs/competitive-research.md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g_pane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0749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 Tight"/>
              </a:rPr>
              <a:t>Модель выставляет баллы.
Индекс считает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34640"/>
            <a:ext cx="3840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350" b="0">
                <a:solidFill>
                  <a:srgbClr val="9DAAC8"/>
                </a:solidFill>
                <a:latin typeface="Inter Tight"/>
              </a:rPr>
              <a:t>У заказчика есть работающая методика: шесть критериев с весами, формула и шкала категорий. Мы её не заменяем — мы делаем её исполнимой.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572000"/>
            <a:ext cx="3794760" cy="137160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480060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C9A227"/>
                </a:solidFill>
                <a:latin typeface="Inter Tight"/>
              </a:rPr>
              <a:t>ИВ = Σ(балл × вес) / 3 ×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523036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Шкала категорий: 0 · 25 · 50 · 75 · 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0972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Что делает модель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444752"/>
            <a:ext cx="5669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F4B9A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Балл 0–3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по каждому критерию К1–К6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F4B9A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Обоснование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со ссылкой на факт из материала и пункт профиля компании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F4B9A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Кандидат во флаг эскалации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— только дословной формулировкой из закрытого списка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06440" y="3401568"/>
            <a:ext cx="566928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36118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Что делает код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3959352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Индекс по формуле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и категорию по шкале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Флаги эскалации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— поднимают категорию на ступень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Релевантность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выводится из К1 — отдельный вызов не нужен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ADR-0003 · в контракте ответа модели полей «категория» и «индекс» нет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56692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Продукт</a:t>
            </a:r>
            <a:r>
              <a:rPr sz="1050" b="1" cap="all" spc="140">
                <a:solidFill>
                  <a:srgbClr val="5B667A"/>
                </a:solidFill>
                <a:latin typeface="Inter Tight"/>
              </a:rPr>
              <a:t>     лента за 6 сентября, данные заказчика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881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0E1428"/>
                </a:solidFill>
                <a:latin typeface="Inter Tight"/>
              </a:rPr>
              <a:t>Сверху то, что важнее для компании, а не то, что свежее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627632"/>
            <a:ext cx="10954512" cy="4553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hot_fe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664208"/>
            <a:ext cx="1088136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1428"/>
                </a:solidFill>
                <a:latin typeface="Inter Tight"/>
              </a:rPr>
              <a:t>Слева — индекс влияния и категория. </a:t>
            </a:r>
            <a:r>
              <a:rPr sz="1150" b="0">
                <a:solidFill>
                  <a:srgbClr val="5B667A"/>
                </a:solidFill>
                <a:latin typeface="Inter Tight"/>
              </a:rPr>
              <a:t>Цветом отмечены только два верхних уровня: пять цветов превращают экран в светофор, а сортировка уже сделала главную работу.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185.56.162.154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56692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Продукт</a:t>
            </a:r>
            <a:r>
              <a:rPr sz="1050" b="1" cap="all" spc="140">
                <a:solidFill>
                  <a:srgbClr val="9DAAC8"/>
                </a:solidFill>
                <a:latin typeface="Inter Tight"/>
              </a:rPr>
              <a:t>     карточка раскрыта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881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 Tight"/>
              </a:rPr>
              <a:t>Оценку видно целиком — и её можно поправить</a:t>
            </a:r>
          </a:p>
        </p:txBody>
      </p:sp>
      <p:pic>
        <p:nvPicPr>
          <p:cNvPr id="5" name="Picture 4" descr="shot_breakd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664208"/>
            <a:ext cx="1088136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6272784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Inter Tight"/>
              </a:rPr>
              <a:t>Слева — заземление.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Под каждым утверждением цитата из оригинала и счётчик проверенного.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6272784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Inter Tight"/>
              </a:rPr>
              <a:t>Справа — шесть критериев.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Балл, вклад в индекс и обоснование. Меняете балл — индекс пересчитывается сразу.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FR-024 · разложение оценки по критериям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Методика заказчика</a:t>
            </a:r>
            <a:r>
              <a:rPr sz="1050" b="1" cap="all" spc="140">
                <a:solidFill>
                  <a:srgbClr val="5B667A"/>
                </a:solidFill>
                <a:latin typeface="Inter Tight"/>
              </a:rPr>
              <a:t>     менять только через ADR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Две шкалы: НПА и новости оцениваются по-разному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5740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НПА · индекс влияния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Критерий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7408" y="23774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Вес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688336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816352"/>
            <a:ext cx="25603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816352"/>
            <a:ext cx="309067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Применимость к деятельности компании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816352"/>
            <a:ext cx="530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2F4B9A"/>
                </a:solidFill>
                <a:latin typeface="Inter Tight"/>
              </a:rPr>
              <a:t>0,25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364992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438144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438144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Юридическая сила и стадия принятия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3438144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767328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40480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840480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Финансовое воздействие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40480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2F4B9A"/>
                </a:solidFill>
                <a:latin typeface="Inter Tight"/>
              </a:rPr>
              <a:t>0,20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4169664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242816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242816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Операционная сложность адаптации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7408" y="4242816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572000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645152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645152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Юридический и репутационный риск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4645152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974336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047488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5047488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Срочность — время до применения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5047488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376672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205740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Новости · индекс актуальности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23774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Критерий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23774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Вес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2688336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2816352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2816352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Актуальность события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2816352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2F4B9A"/>
                </a:solidFill>
                <a:latin typeface="Inter Tight"/>
              </a:rPr>
              <a:t>0,30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3145536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3218688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3218688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Релевантность продуктам и бизнесу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218688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2F4B9A"/>
                </a:solidFill>
                <a:latin typeface="Inter Tight"/>
              </a:rPr>
              <a:t>0,30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3547872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3621024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0" y="3621024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Масштаб для отрасли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3621024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0,20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3950208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4023360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4023360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Динамика развития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4023360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4352544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4343400"/>
            <a:ext cx="5212080" cy="1051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583680" y="4553712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800" b="1">
                <a:solidFill>
                  <a:srgbClr val="0E1428"/>
                </a:solidFill>
                <a:latin typeface="Inter Tight"/>
              </a:rPr>
              <a:t>ИВ = ( Σ балл × вес ) ÷ 3 × 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0" y="49377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5B667A"/>
                </a:solidFill>
                <a:latin typeface="Inter Tight"/>
              </a:rPr>
              <a:t>Каждый критерий — целое от 0 до 3. Модель выдаёт только баллы и обоснование.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66344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Пороги категорий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498348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>
                <a:solidFill>
                  <a:srgbClr val="0E1428"/>
                </a:solidFill>
                <a:latin typeface="Inter Tight"/>
              </a:rPr>
              <a:t>0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Незначительное   </a:t>
            </a:r>
            <a:r>
              <a:rPr sz="1200" b="1">
                <a:solidFill>
                  <a:srgbClr val="0E1428"/>
                </a:solidFill>
                <a:latin typeface="Inter Tight"/>
              </a:rPr>
              <a:t>25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Низкое   </a:t>
            </a:r>
            <a:r>
              <a:rPr sz="1200" b="1">
                <a:solidFill>
                  <a:srgbClr val="0E1428"/>
                </a:solidFill>
                <a:latin typeface="Inter Tight"/>
              </a:rPr>
              <a:t>50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Среднее   </a:t>
            </a:r>
            <a:r>
              <a:rPr sz="1200" b="1">
                <a:solidFill>
                  <a:srgbClr val="2F4B9A"/>
                </a:solidFill>
                <a:latin typeface="Inter Tight"/>
              </a:rPr>
              <a:t>75 </a:t>
            </a:r>
            <a:r>
              <a:rPr sz="1200" b="0">
                <a:solidFill>
                  <a:srgbClr val="2F4B9A"/>
                </a:solidFill>
                <a:latin typeface="Inter Tight"/>
              </a:rPr>
              <a:t>Высокое   </a:t>
            </a:r>
            <a:r>
              <a:rPr sz="1200" b="1">
                <a:solidFill>
                  <a:srgbClr val="2F4B9A"/>
                </a:solidFill>
                <a:latin typeface="Inter Tight"/>
              </a:rPr>
              <a:t>90 </a:t>
            </a:r>
            <a:r>
              <a:rPr sz="1200" b="0">
                <a:solidFill>
                  <a:srgbClr val="2F4B9A"/>
                </a:solidFill>
                <a:latin typeface="Inter Tight"/>
              </a:rPr>
              <a:t>Критическое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" y="553212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1428"/>
                </a:solidFill>
                <a:latin typeface="Inter Tight"/>
              </a:rPr>
              <a:t>Флаг эскалации поднимает категорию на ступень. </a:t>
            </a:r>
            <a:r>
              <a:rPr sz="1150" b="0">
                <a:solidFill>
                  <a:srgbClr val="5B667A"/>
                </a:solidFill>
                <a:latin typeface="Inter Tight"/>
              </a:rPr>
              <a:t>Список флагов закрытый: формулировку не из перечня код отбрасывает.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backend/config/scoring.yaml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56692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Продукт</a:t>
            </a:r>
            <a:r>
              <a:rPr sz="1050" b="1" cap="all" spc="140">
                <a:solidFill>
                  <a:srgbClr val="5B667A"/>
                </a:solidFill>
                <a:latin typeface="Inter Tight"/>
              </a:rPr>
              <a:t>     долгоживущая карточка законопроекта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881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0E1428"/>
                </a:solidFill>
                <a:latin typeface="Inter Tight"/>
              </a:rPr>
              <a:t>НПА живёт отдельно: стадии, хронология, динамика влияния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627632"/>
            <a:ext cx="10954512" cy="4553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hot_ac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664208"/>
            <a:ext cx="1088136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1428"/>
                </a:solidFill>
                <a:latin typeface="Inter Tight"/>
              </a:rPr>
              <a:t>Стадия «Обсуждение» помечена как неприменимая, а не как непройденная. </a:t>
            </a:r>
            <a:r>
              <a:rPr sz="1150" b="0">
                <a:solidFill>
                  <a:srgbClr val="5B667A"/>
                </a:solidFill>
                <a:latin typeface="Inter Tight"/>
              </a:rPr>
              <a:t>Российские акты стадии пропускают, и линейная шкала без этого состояния лжёт.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FR-032 · FR-035 · смена стадии отправляет материалы на переоценку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Схема 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Конвейер обработки материала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41248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Сбор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RSS, страницы регуляторов, Telegram. Дедупликация по URL.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50592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2633472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Саммари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3–5 утверждений, к каждому дословная цитата.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2816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EC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4425696" y="2331720"/>
            <a:ext cx="329184" cy="329184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nter Tigh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1B2A5B"/>
                </a:solidFill>
                <a:latin typeface="Inter Tight"/>
              </a:rPr>
              <a:t>Заземление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Вхождение цитаты — код. Следует ли утверждение — модель.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217920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Классификация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Новость или НПА: определяет схему оценки.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7264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EC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010144" y="2331720"/>
            <a:ext cx="329184" cy="329184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nter Tight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1B2A5B"/>
                </a:solidFill>
                <a:latin typeface="Inter Tight"/>
              </a:rPr>
              <a:t>Оценка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0144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Модель даёт баллы, код считает индекс.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9488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802368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8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Лента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02368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По убыванию влияния, фильтры и поиск.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06240"/>
            <a:ext cx="6583680" cy="1691640"/>
          </a:xfrm>
          <a:prstGeom prst="roundRect">
            <a:avLst>
              <a:gd name="adj" fmla="val 4500"/>
            </a:avLst>
          </a:prstGeom>
          <a:solidFill>
            <a:srgbClr val="F0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42416" y="4434840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1B2A5B"/>
                </a:solidFill>
                <a:latin typeface="Inter Tight"/>
              </a:rPr>
              <a:t>Почему заземление в две ступени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" y="477316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Проверки вхождения цитаты недостаточно: настоящая цитата, не подтверждающая утверждение, проходит поиск по тексту. По измерению Stanford RegLab это главный класс ошибок — </a:t>
            </a:r>
            <a:r>
              <a:rPr sz="1250" b="1">
                <a:solidFill>
                  <a:srgbClr val="0E1428"/>
                </a:solidFill>
                <a:latin typeface="Inter Tight"/>
              </a:rPr>
              <a:t>17% у Lexis+ AI, 33% у Westlaw</a:t>
            </a:r>
            <a:r>
              <a:rPr sz="1250" b="0">
                <a:solidFill>
                  <a:srgbClr val="5B667A"/>
                </a:solidFill>
                <a:latin typeface="Inter Tight"/>
              </a:rPr>
              <a:t>, оба на RAG и оба продавались как «hallucination-free».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434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Что не теряется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73168"/>
            <a:ext cx="3840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Отбракованное сохраняется с причиной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Отказ модели не теряет материал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Правка человека не перезаписывается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ADR-0007 · backend/src/pipeline/grounding.py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Выполненные этапы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778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Слой до кода собран, backend реализован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Продукт и постановка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87168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Конституция проекта: 6 принципов, три необсуждаемые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Спецификация: 7 историй, 50 требований, 13 критериев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Модель данных, контракты API и вызовов модели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8 ADR, 7 гипотез, бизнес-кейс, 14 вопросов заказчику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Исследование рынка: ~40 продуктов, 31 находка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148840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Реализация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487168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Сбор из трёх типов источников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Конвейер: саммари, заземление, классификация, оценка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Формула индекса и шкала категорий в конфиге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Лента, фильтры, поиск, ручное редактирование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Профили компании и переоценка при переключении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2803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1B2A5B"/>
                </a:solidFill>
                <a:latin typeface="Inter Tight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5B667A"/>
                </a:solidFill>
                <a:latin typeface="Inter Tight"/>
              </a:rPr>
              <a:t>задачи закрыты из 105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1B2A5B"/>
                </a:solidFill>
                <a:latin typeface="Inter Tight"/>
              </a:rPr>
              <a:t>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5623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5B667A"/>
                </a:solidFill>
                <a:latin typeface="Inter Tight"/>
              </a:rPr>
              <a:t>тестов, все проходят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1B2A5B"/>
                </a:solidFill>
                <a:latin typeface="Inter Tight"/>
              </a:rPr>
              <a:t>5 735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5623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5B667A"/>
                </a:solidFill>
                <a:latin typeface="Inter Tight"/>
              </a:rPr>
              <a:t>строк backend с тестами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Спецификация ведёт код: каждая задача ссылается на требование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Первые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778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nter Tight"/>
              </a:rPr>
              <a:t>Формула воспроизводит методику заказчика точно</a:t>
            </a:r>
          </a:p>
        </p:txBody>
      </p:sp>
      <p:pic>
        <p:nvPicPr>
          <p:cNvPr id="5" name="Picture 4" descr="bg_st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94560"/>
            <a:ext cx="3200400" cy="1783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78408" y="2487168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Inter Tight"/>
              </a:rPr>
              <a:t>42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310128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C8D4EE"/>
                </a:solidFill>
                <a:latin typeface="Inter Tight"/>
              </a:rPr>
              <a:t>карточки реестра — совпадение индекса и итоговой категории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206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Ещё замерено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2628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9DAAC8"/>
                </a:solidFill>
                <a:latin typeface="Inter Tight"/>
              </a:rPr>
              <a:t>7–24 мс отклик фильтров при цели «менее секунды»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9DAAC8"/>
                </a:solidFill>
                <a:latin typeface="Inter Tight"/>
              </a:rPr>
              <a:t>0 незаземлённых утверждений проходит в саммари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194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94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Баллы К1–К6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194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Excel заказчика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1945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Наш расчёт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2505456"/>
            <a:ext cx="7315200" cy="9525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633472"/>
            <a:ext cx="19019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№ 1 · CAS DRM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633472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3 2 3 0 0 3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633472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65,0 → Высокое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633472"/>
            <a:ext cx="15361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C9A227"/>
                </a:solidFill>
                <a:latin typeface="Inter Tight"/>
              </a:rPr>
              <a:t>65,0 → Высокое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962656"/>
            <a:ext cx="7315200" cy="9525"/>
          </a:xfrm>
          <a:prstGeom prst="rect">
            <a:avLst/>
          </a:prstGeom>
          <a:solidFill>
            <a:srgbClr val="22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3035808"/>
            <a:ext cx="19019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№ 2 · ФЗ № 243-ФЗ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35808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3 3 1 1 0 0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035808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51,7 → Среднее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3035808"/>
            <a:ext cx="15361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C9A227"/>
                </a:solidFill>
                <a:latin typeface="Inter Tight"/>
              </a:rPr>
              <a:t>51,7 → Среднее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3364992"/>
            <a:ext cx="7315200" cy="9525"/>
          </a:xfrm>
          <a:prstGeom prst="rect">
            <a:avLst/>
          </a:prstGeom>
          <a:solidFill>
            <a:srgbClr val="22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0" y="3438144"/>
            <a:ext cx="19019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№ 22 · ПП № 402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438144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3 3 2 2 1 3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438144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78,3 → Высокое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438144"/>
            <a:ext cx="15361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C9A227"/>
                </a:solidFill>
                <a:latin typeface="Inter Tight"/>
              </a:rPr>
              <a:t>78,3 → Высокое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3767328"/>
            <a:ext cx="7315200" cy="9525"/>
          </a:xfrm>
          <a:prstGeom prst="rect">
            <a:avLst/>
          </a:prstGeom>
          <a:solidFill>
            <a:srgbClr val="22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397763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9DAAC8"/>
                </a:solidFill>
                <a:latin typeface="Inter Tight"/>
              </a:rPr>
              <a:t>Индекс 65 даёт «Среднее», флаг эскалации поднимает до «Высокого» — совпало тоже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44805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Дефекты, найденные при реализации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80060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1">
                <a:solidFill>
                  <a:srgbClr val="FFFFFF"/>
                </a:solidFill>
                <a:latin typeface="Inter Tight"/>
              </a:rPr>
              <a:t>Схема оценки сравнивалась через тождество</a:t>
            </a:r>
            <a:r>
              <a:rPr sz="1200" b="0">
                <a:solidFill>
                  <a:srgbClr val="9DAAC8"/>
                </a:solidFill>
                <a:latin typeface="Inter Tight"/>
              </a:rPr>
              <a:t> — оценка НПА молча уходила в схему новостей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1">
                <a:solidFill>
                  <a:srgbClr val="FFFFFF"/>
                </a:solidFill>
                <a:latin typeface="Inter Tight"/>
              </a:rPr>
              <a:t>Кириллица в JSON хранилась экранированной</a:t>
            </a:r>
            <a:r>
              <a:rPr sz="1200" b="0">
                <a:solidFill>
                  <a:srgbClr val="9DAAC8"/>
                </a:solidFill>
                <a:latin typeface="Inter Tight"/>
              </a:rPr>
              <a:t> — поиск не находил ничего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python -m src.cli verify-formula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Метрики</a:t>
            </a:r>
            <a:r>
              <a:rPr sz="1050" b="1" cap="all" spc="140">
                <a:solidFill>
                  <a:srgbClr val="9DAAC8"/>
                </a:solidFill>
                <a:latin typeface="Inter Tight"/>
              </a:rPr>
              <a:t>     измерено, а не оценено на глаз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nter Tight"/>
              </a:rPr>
              <a:t>Время, деньги, качество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3317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Время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697480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Inter Tight"/>
              </a:rPr>
              <a:t>12,7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40156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C8D4EE"/>
                </a:solidFill>
                <a:latin typeface="Inter Tight"/>
              </a:rPr>
              <a:t>медиана обработки одного материала при цели 10–15 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977639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DAAC8"/>
                </a:solidFill>
                <a:latin typeface="Inter Tight"/>
              </a:rPr>
              <a:t>Ручной мониторинг 3–4 часа в день заменяется разбором готовой ленты за 10–15 минут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210312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54296" y="23317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Деньги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697480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Inter Tight"/>
              </a:rPr>
              <a:t>$0,00044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340156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C8D4EE"/>
                </a:solidFill>
                <a:latin typeface="Inter Tight"/>
              </a:rPr>
              <a:t>стоимость одного материала целиком: саммари, заземление, 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3977639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DAAC8"/>
                </a:solidFill>
                <a:latin typeface="Inter Tight"/>
              </a:rPr>
              <a:t>Поток 150 материалов в сутки обходится примерно в 2 доллара в месяц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210312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57616" y="23317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Качество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2697480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Inter Tight"/>
              </a:rPr>
              <a:t>37 / 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340156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C8D4EE"/>
                </a:solidFill>
                <a:latin typeface="Inter Tight"/>
              </a:rPr>
              <a:t>карточки эталона заказчика — категория совпала или разошлась на ступень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977639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DAAC8"/>
                </a:solidFill>
                <a:latin typeface="Inter Tight"/>
              </a:rPr>
              <a:t>Провалов критичного в нижние категории: 1. Это ключевое условие заказчика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892040"/>
            <a:ext cx="10881360" cy="9525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07492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Заземление саммари · 820 утверждений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394960"/>
            <a:ext cx="5212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150">
                <a:solidFill>
                  <a:srgbClr val="C9A227"/>
                </a:solidFill>
                <a:latin typeface="Inter Tight"/>
              </a:rPr>
              <a:t>—  </a:t>
            </a:r>
            <a:r>
              <a:rPr sz="1150" b="1">
                <a:solidFill>
                  <a:srgbClr val="FFFFFF"/>
                </a:solidFill>
                <a:latin typeface="Inter Tight"/>
              </a:rPr>
              <a:t>89,1 %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подтверждены обеими ступенями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150">
                <a:solidFill>
                  <a:srgbClr val="C9A227"/>
                </a:solidFill>
                <a:latin typeface="Inter Tight"/>
              </a:rPr>
              <a:t>—  </a:t>
            </a:r>
            <a:r>
              <a:rPr sz="1150" b="1">
                <a:solidFill>
                  <a:srgbClr val="FFFFFF"/>
                </a:solidFill>
                <a:latin typeface="Inter Tight"/>
              </a:rPr>
              <a:t>8,2 %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поймала вторая ступень: цитата настоящая, но утверждения не подтверждает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074920"/>
            <a:ext cx="4846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Inter Tight"/>
              </a:rPr>
              <a:t>Почему это важно.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Проверка вхождения строки эти 8,2 % пропустила бы, и утверждения попали бы в ленту с видимой цитатой-подтверждением — то есть выглядели бы достовернее непроверенного текста. Именно на этом классе ошибок коммерческие правовые ИИ дают 17–33 %.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evals/results.md · python -m src.cli evaluate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Что показываем и что честно назвать незакрытым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5303520" cy="3108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24128" y="24688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E7D5B"/>
                </a:solidFill>
                <a:latin typeface="Inter Tight"/>
              </a:rPr>
              <a:t>Сценарий демо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788920"/>
            <a:ext cx="4572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Добавление источника и запуск сбора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Лента, отсортированная по влиянию на компанию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Карточка: шесть баллов с обоснованием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Наведение на утверждение — цитата из оригинала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Правка балла — индекс пересчитывается сразу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Переключение профиля — порядок ленты меняется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94560"/>
            <a:ext cx="5120640" cy="3108960"/>
          </a:xfrm>
          <a:prstGeom prst="roundRect">
            <a:avLst>
              <a:gd name="adj" fmla="val 4500"/>
            </a:avLst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766560" y="24688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0791F"/>
                </a:solidFill>
                <a:latin typeface="Inter Tight"/>
              </a:rPr>
              <a:t>Чего пока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4389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Фронтенда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сейчас API и автодокументация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Досье НПА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главное отличие, следующий приоритет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Дедупликации и дайджеста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приоритет пересмотрен вверх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Измерения на живой модели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конвейер верен, качество не измерено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321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Инфраструктура.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Пайплайн деплоя написан: сборка, доставка, health-проба. Два внешних блокера — Actions падает на старте по причине уровня аккаунта, порт 22 сервера не отвечает. Запасной путь развёртывания готов и не зависит от обоих.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Локальный запуск — backend/README.md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Что может не сработать и как это проверяется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Риск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1728" y="22860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Оценка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22860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Как снимаем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24912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H-01: профиля компании в промпте недостаточно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1728" y="2743200"/>
            <a:ext cx="1179576" cy="24688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критический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724912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Прогон на 42 карточках с эталонными баллами. Если не подтвердится — фильтр по профилю плюс few-shot.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27355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346704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Профиль GS Labs восстановлен нами, не подтверждён заказчиком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3364992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высокий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3346704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Вопрос OQ-01 заказчику. Единственное, что нельзя закрыть кодом.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95344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68496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42 карточек мало для значимости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81728" y="3986784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C0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высокий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3968496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Заявляем как проверку на данных заказчика, не как бенчмарк. Расширение — OQ-08.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51713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590288"/>
            <a:ext cx="38221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Отказ внешнего API во время защиты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81728" y="4608576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C0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средний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4590288"/>
            <a:ext cx="5102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Резервный провайдер модели и кеш ответов.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97433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047488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Сервер и CI недоступны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81728" y="5065776"/>
            <a:ext cx="1261872" cy="24688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реализовался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5047488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Запасной путь развёртывания с рабочей машины теми же шагами.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596128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5632704"/>
            <a:ext cx="10881360" cy="585216"/>
          </a:xfrm>
          <a:prstGeom prst="roundRect">
            <a:avLst>
              <a:gd name="adj" fmla="val 4500"/>
            </a:avLst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78408" y="5751576"/>
            <a:ext cx="10241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C0791F"/>
                </a:solidFill>
                <a:latin typeface="Inter Tight"/>
              </a:rPr>
              <a:t>Чего мы не будем делать. </a:t>
            </a:r>
            <a:r>
              <a:rPr sz="1150" b="0">
                <a:solidFill>
                  <a:srgbClr val="5B667A"/>
                </a:solidFill>
                <a:latin typeface="Inter Tight"/>
              </a:rPr>
              <a:t>Не добавляем «вероятность принятия законопроекта»: доля принимаемых актов — единицы процентов: модель, всегда отвечающая «не пройдёт», даёт ~95% точности и бесполезна. Ровно на этом FiscalNote потеряла заявленную ценность.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7 гипотез с порогами принятия — docs/hypotheses.md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План до финальной защиты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778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Порядок работ и правило остановки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5303520" cy="2651760"/>
          </a:xfrm>
          <a:prstGeom prst="roundRect">
            <a:avLst>
              <a:gd name="adj" fmla="val 4500"/>
            </a:avLst>
          </a:prstGeom>
          <a:solidFill>
            <a:srgbClr val="EC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24128" y="2450592"/>
            <a:ext cx="384048" cy="384048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 T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4203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1B2A5B"/>
                </a:solidFill>
                <a:latin typeface="Inter Tight"/>
              </a:rPr>
              <a:t>Доказать ценность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0632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Отправить заказчику OQ-01 и OQ-08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Прогон на эталоне: базовая ставка, recall, precision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Разбор ошибок, правка промптов, повторный замер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Фронтенд ленты и карточки с раскрытой оценкой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5120640" cy="26517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766560" y="2450592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 Tigh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5420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Отличие от конкурентов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632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Досье НПА: стадии, хронология, история оценок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Четыре состояния стадии, включая «неприменима»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Дедупликация с гейтом по общим сущностям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Дайджест под получателя и выгрузка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120640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C0392B"/>
                </a:solidFill>
                <a:latin typeface="Inter Tight"/>
              </a:rPr>
              <a:t>Правило остановки.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Если досье НПА не закрыто — не начинаем дедупликацию и дайджест. Досье отвечает на вопрос «чем вы лучше существующих решений», остальное нет.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34924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Что скажем про качество.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Только измеренную величину с базовой ставкой рядом. Формулировка «без галлюцинаций» запрещена внутренним правилом проекта.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51 задача осталась · specs/001-ai-monitoring-center/tasks.md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nter Tight"/>
              </a:rPr>
              <a:t>Роли, зоны ответственности и участие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3429000" cy="288036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50976" y="2423160"/>
            <a:ext cx="566928" cy="5669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E1428"/>
                </a:solidFill>
                <a:latin typeface="Inter Tight"/>
              </a:rPr>
              <a:t>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3154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 Tight"/>
              </a:rPr>
              <a:t>Левочкин Егор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4930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Inter Tight"/>
              </a:rPr>
              <a:t>AI Product · 1 курс · @veceloe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886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DAAC8"/>
                </a:solidFill>
                <a:latin typeface="Inter Tight"/>
              </a:rPr>
              <a:t>Продуктовая постановка, спецификация и ADR, методика оценки, гипотезы, исследование рынка, заказчик. Инженерно — парсинг и фронтенд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2148840"/>
            <a:ext cx="3429000" cy="288036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54296" y="2423160"/>
            <a:ext cx="566928" cy="566928"/>
          </a:xfrm>
          <a:prstGeom prst="ellipse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Inter Tight"/>
              </a:rPr>
              <a:t>ГД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3154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 Tight"/>
              </a:rPr>
              <a:t>Головаш Денис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34930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Inter Tight"/>
              </a:rPr>
              <a:t>AI Engineer · 1 курс · @denizzzz_ka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3886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DAAC8"/>
                </a:solidFill>
                <a:latin typeface="Inter Tight"/>
              </a:rPr>
              <a:t>LLM-слой целиком: провайдер с резервным и кешем, версионированные промпты, схемы ответов, заземление, качество оценки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2148840"/>
            <a:ext cx="3429000" cy="288036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357616" y="2423160"/>
            <a:ext cx="566928" cy="566928"/>
          </a:xfrm>
          <a:prstGeom prst="ellipse">
            <a:avLst/>
          </a:prstGeom>
          <a:solidFill>
            <a:srgbClr val="4A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Inter Tight"/>
              </a:rPr>
              <a:t>АИ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3154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 Tight"/>
              </a:rPr>
              <a:t>Артемьев Иван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34930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Inter Tight"/>
              </a:rPr>
              <a:t>AI Engineer · 1 курс · @s3drmn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886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DAAC8"/>
                </a:solidFill>
                <a:latin typeface="Inter Tight"/>
              </a:rPr>
              <a:t>Backend: модель данных, конвейер обработки, API по контракту, хранилище, развёртывание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230368"/>
            <a:ext cx="10881360" cy="9525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qr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440680"/>
            <a:ext cx="1051560" cy="10515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92808" y="55046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Живой стенд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2808" y="5797296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Tight"/>
              </a:rPr>
              <a:t>185.56.162.154</a:t>
            </a:r>
            <a:r>
              <a:rPr sz="1100" b="0">
                <a:solidFill>
                  <a:srgbClr val="9DAAC8"/>
                </a:solidFill>
                <a:latin typeface="Inter Tight"/>
              </a:rPr>
              <a:t>
Лента, досье НПА и дайджест на данных заказчика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440680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Inter Tight"/>
              </a:rPr>
              <a:t>Как организована работа.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Границей между дорожками служит контракт API, зафиксированный до кодирования: дорожки не блокируют друг друга, а расхождение ручных типов с контрактом становится ошибкой компиляции, а не сюрпризом у пользователя.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github.com/veceloe/ai-gpr-center-cifra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