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659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1" cap="all" spc="160">
                <a:solidFill>
                  <a:srgbClr val="FFFFFF"/>
                </a:solidFill>
                <a:latin typeface="Inter Tight"/>
              </a:rPr>
              <a:t>ITMO AI Product Hack · кейс ООО «Цифра»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800" b="1">
                <a:solidFill>
                  <a:srgbClr val="FFFFFF"/>
                </a:solidFill>
                <a:latin typeface="Inter Tight"/>
              </a:rPr>
              <a:t>Интеллектуальный центр
PR/GR-мониторинга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E4F5DE"/>
                </a:solidFill>
                <a:latin typeface="Inter Tight"/>
              </a:rPr>
              <a:t>Лента, отсортированная по влиянию на компанию, а не по дате публикации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D3EFC9"/>
                </a:solidFill>
                <a:latin typeface="Inter Tight"/>
              </a:rPr>
              <a:t>Левочкин Егор · Головаш Денис · Артемьев Иван</a:t>
            </a:r>
          </a:p>
        </p:txBody>
      </p:sp>
      <p:pic>
        <p:nvPicPr>
          <p:cNvPr id="7" name="Picture 6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420624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82735" y="56875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100" b="0">
                <a:solidFill>
                  <a:srgbClr val="FFFFFF"/>
                </a:solidFill>
                <a:latin typeface="Inter Tight"/>
              </a:rPr>
              <a:t>185.56.162.154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>
                <a:solidFill>
                  <a:srgbClr val="231F20"/>
                </a:solidFill>
                <a:latin typeface="Inter Tight"/>
              </a:rPr>
              <a:t>Специалист тратит 3–4 часа в день,
чтобы прочитать всё вручную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6B7280"/>
                </a:solidFill>
                <a:latin typeface="Inter Tight"/>
              </a:rPr>
              <a:t>И дело не в объёме. Агрегаторы отвечают на вопрос «что интересного произошло». GR-специалисту нужен другой ответ: что из этого касается нашей компании.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379123"/>
                </a:solidFill>
                <a:latin typeface="Inter Tight"/>
              </a:rPr>
              <a:t>3–4 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60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в день на ручной мониторинг лент, порталов и телеграм-каналов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3977639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379123"/>
                </a:solidFill>
                <a:latin typeface="Inter Tight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480060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формализованных правил: решения строятся на опыте, два эксперта дают разные ответы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3977639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379123"/>
                </a:solidFill>
                <a:latin typeface="Inter Tigh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480060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пропущенной поправки достаточно, чтобы перестраивать продукт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Источник: созвон с заказчиком 02.09.2026, Q&amp;A и описание кейса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>
                <a:solidFill>
                  <a:srgbClr val="231F20"/>
                </a:solidFill>
                <a:latin typeface="Inter Tight"/>
              </a:rPr>
              <a:t>Модель выставляет баллы.
Индекс считает код.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6B7280"/>
                </a:solidFill>
                <a:latin typeface="Inter Tight"/>
              </a:rPr>
              <a:t>В контракте ответа модели полей «индекс» и «категория» нет вовсе — она физически не может их вернуть. Поэтому оценку можно проверить, объяснить и поправить.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>
                <a:solidFill>
                  <a:srgbClr val="231F20"/>
                </a:solidFill>
                <a:latin typeface="Inter Tight"/>
              </a:rPr>
              <a:t>ИВ  =  ( Σ балл × вес )  ÷  3  × 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0">
                <a:solidFill>
                  <a:srgbClr val="6B7280"/>
                </a:solidFill>
                <a:latin typeface="Inter Tight"/>
              </a:rPr>
              <a:t>Веса и пороги — методика заказчика, она у него уже была в Excel. Мы её не придумывали и менять можем только с его согласия.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ADR-0003 · backend/config/scoring.yaml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>
                <a:solidFill>
                  <a:srgbClr val="231F20"/>
                </a:solidFill>
                <a:latin typeface="Inter Tight"/>
              </a:rPr>
              <a:t>Сверху то, что важнее для компании, а не то, что свежее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Цветом отмечены только два верхних уровня серьёзности: сортировка уже сделала главную работу.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70992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fe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737360"/>
            <a:ext cx="9052560" cy="4488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185.56.162.154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>
                <a:solidFill>
                  <a:srgbClr val="231F20"/>
                </a:solidFill>
                <a:latin typeface="Inter Tight"/>
              </a:rPr>
              <a:t>Оценку видно целиком — и её можно поправить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Слева цитата из оригинала под каждым утверждением. Справа шесть критериев: балл, вклад в индекс, обоснование. Меняете балл — индекс пересчитывается сразу.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70992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breakd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737360"/>
            <a:ext cx="9052560" cy="4488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FR-024 · FR-081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>
                <a:solidFill>
                  <a:srgbClr val="231F20"/>
                </a:solidFill>
                <a:latin typeface="Inter Tight"/>
              </a:rPr>
              <a:t>НПА живёт отдельно: стадии, хронология, динамика влияния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Стадия «Обсуждение» помечена неприменимой, а не непройденной: российские акты стадии пропускают, и линейная шкала без этого состояния лжёт.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70992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737360"/>
            <a:ext cx="9052560" cy="4488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FR-032 · FR-035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Измерено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>
                <a:solidFill>
                  <a:srgbClr val="231F20"/>
                </a:solidFill>
                <a:latin typeface="Inter Tight"/>
              </a:rPr>
              <a:t>Время, деньги, качество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32918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633472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379123"/>
                </a:solidFill>
                <a:latin typeface="Inter Tight"/>
              </a:rPr>
              <a:t>12,7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29184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секунды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584448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медиана обработки одного материала при целевых 10–15 с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2377440"/>
            <a:ext cx="32918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633472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379123"/>
                </a:solidFill>
                <a:latin typeface="Inter Tight"/>
              </a:rPr>
              <a:t>$0,00044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3584448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полный цикл на материал. Поток 150 в сутки — около $2 в месяц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0" y="2377440"/>
            <a:ext cx="32918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633472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379123"/>
                </a:solidFill>
                <a:latin typeface="Inter Tight"/>
              </a:rPr>
              <a:t>37 / 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3584448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карточки эталона заказчика: категория совпала или разошлась на ступень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231F20"/>
                </a:solidFill>
                <a:latin typeface="Inter Tight"/>
              </a:rPr>
              <a:t>Заземление: на 820 утверждениях 8,2 % поймала вторая ступень. </a:t>
            </a:r>
            <a:r>
              <a:rPr sz="1500" b="0">
                <a:solidFill>
                  <a:srgbClr val="6B7280"/>
                </a:solidFill>
                <a:latin typeface="Inter Tight"/>
              </a:rPr>
              <a:t>Цитата дословно есть в оригинале, но утверждения не подтверждает — проверка подстрокой их пропустила бы. У коммерческих правовых ИИ этот класс ошибок даёт 17–33 %.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evals/results.md · python -m src.cli 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Методика заказчика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>
                <a:solidFill>
                  <a:srgbClr val="231F20"/>
                </a:solidFill>
                <a:latin typeface="Inter Tight"/>
              </a:rPr>
              <a:t>Две шкалы: НПА и новости оцениваются по-разному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30">
                <a:solidFill>
                  <a:srgbClr val="379123"/>
                </a:solidFill>
                <a:latin typeface="Inter Tight"/>
              </a:rPr>
              <a:t>НПА · индекс влияния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К1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4688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Применимость к деятельности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4688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0,25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950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К2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88950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Юридическая сила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8895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0,15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101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К3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33101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Финансовое воздействие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101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0,20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307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К4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73075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Сложность адаптации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7307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0,15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5137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К5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4151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Юридический и репутационный риск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15137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0,15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72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К6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5720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Срочность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0,10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0574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30">
                <a:solidFill>
                  <a:srgbClr val="379123"/>
                </a:solidFill>
                <a:latin typeface="Inter Tight"/>
              </a:rPr>
              <a:t>Новости · индекс актуальности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468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Н1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0568" y="24688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Актуальность события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24688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0,30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88950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Н2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288950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Релевантность бизнесу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78440" y="28895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0,30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3101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Н3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0568" y="33101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Масштаб для отрасли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8440" y="33101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0,20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7307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Н4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373075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Динамика развития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78440" y="37307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300" b="1">
                <a:solidFill>
                  <a:srgbClr val="231F20"/>
                </a:solidFill>
                <a:latin typeface="Inter Tight"/>
              </a:rPr>
              <a:t>0,20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257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231F20"/>
                </a:solidFill>
                <a:latin typeface="Inter Tight"/>
              </a:rPr>
              <a:t>Каждый критерий — целое от 0 до 3. </a:t>
            </a:r>
            <a:r>
              <a:rPr sz="1400" b="0">
                <a:solidFill>
                  <a:srgbClr val="6B7280"/>
                </a:solidFill>
                <a:latin typeface="Inter Tight"/>
              </a:rPr>
              <a:t>Флаг эскалации из закрытого перечня поднимает итоговую категорию на ступень; формулировку не из перечня код отбрасывает.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docs/scoring-methodology.md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EB5757"/>
                </a:solidFill>
                <a:latin typeface="Inter Tight"/>
              </a:rPr>
              <a:t>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>
                <a:solidFill>
                  <a:srgbClr val="231F20"/>
                </a:solidFill>
                <a:latin typeface="Inter Tight"/>
              </a:rPr>
              <a:t>Что мы измерить не смогли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>
                <a:solidFill>
                  <a:srgbClr val="231F20"/>
                </a:solidFill>
                <a:latin typeface="Inter Tight"/>
              </a:rPr>
              <a:t>Точность фильтрации — не измерена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15768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В реестре заказчика нет ни одной нерелевантной карточки: базовая ставка 100 %. Заявленные 80 % на таких данных неизмеримы в принципе. Нужен размеченный набор с отрицательными примерами — открытый вопрос к заказчику.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>
                <a:solidFill>
                  <a:srgbClr val="231F20"/>
                </a:solidFill>
                <a:latin typeface="Inter Tight"/>
              </a:rPr>
              <a:t>Провалы критичного: 1 при цели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50208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Единственный провал — следствие того, что новостная схема систематически занижает оценку на материалах с непрямой связью.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00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>
                <a:solidFill>
                  <a:srgbClr val="231F20"/>
                </a:solidFill>
                <a:latin typeface="Inter Tight"/>
              </a:rPr>
              <a:t>Автосбор на стенде выключен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84648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Обработка не успевает за сбором, и необработанные материалы попадают в ленту пустыми карточками. Показываем подготовленный срез.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docs/hypotheses.md · evals/results.md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D3EFC9"/>
                </a:solidFill>
                <a:latin typeface="Inter Tight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>
                <a:solidFill>
                  <a:srgbClr val="FFFFFF"/>
                </a:solidFill>
                <a:latin typeface="Inter Tight"/>
              </a:rPr>
              <a:t>Кто делал и где посмотреть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FFFFFF"/>
                </a:solidFill>
                <a:latin typeface="Inter Tight"/>
              </a:rPr>
              <a:t>Левочкин Егор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468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D3EFC9"/>
                </a:solidFill>
                <a:latin typeface="Inter Tight"/>
              </a:rPr>
              <a:t>@veceloe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4688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E4F5DE"/>
                </a:solidFill>
                <a:latin typeface="Inter Tight"/>
              </a:rPr>
              <a:t>продукт, парсинг, фронтенд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9184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FFFFFF"/>
                </a:solidFill>
                <a:latin typeface="Inter Tight"/>
              </a:rPr>
              <a:t>Головаш Денис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3375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D3EFC9"/>
                </a:solidFill>
                <a:latin typeface="Inter Tight"/>
              </a:rPr>
              <a:t>@denizzzz_ka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33756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E4F5DE"/>
                </a:solidFill>
                <a:latin typeface="Inter Tight"/>
              </a:rPr>
              <a:t>весь слой работы с моделью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FFFFFF"/>
                </a:solidFill>
                <a:latin typeface="Inter Tight"/>
              </a:rPr>
              <a:t>Артемьев Иван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42062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D3EFC9"/>
                </a:solidFill>
                <a:latin typeface="Inter Tight"/>
              </a:rPr>
              <a:t>@s3drmn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2062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E4F5DE"/>
                </a:solidFill>
                <a:latin typeface="Inter Tight"/>
              </a:rPr>
              <a:t>бэкенд, конвейер, развёртывание</a:t>
            </a:r>
          </a:p>
        </p:txBody>
      </p:sp>
      <p:pic>
        <p:nvPicPr>
          <p:cNvPr id="14" name="Picture 13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2377440"/>
            <a:ext cx="1828800" cy="1828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34095" y="43159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300" b="1">
                <a:solidFill>
                  <a:srgbClr val="FFFFFF"/>
                </a:solidFill>
                <a:latin typeface="Inter Tight"/>
              </a:rPr>
              <a:t>185.56.162.154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321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E4F5DE"/>
                </a:solidFill>
                <a:latin typeface="Inter Tight"/>
              </a:rPr>
              <a:t>github.com/veceloe/ai-gpr-center-cifra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D3EFC9"/>
                </a:solidFill>
                <a:latin typeface="Inter Tight"/>
              </a:rPr>
              <a:t>9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