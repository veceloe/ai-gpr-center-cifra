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1" cap="all" spc="160">
                <a:solidFill>
                  <a:srgbClr val="FFFFFF"/>
                </a:solidFill>
                <a:latin typeface="Inter Tight"/>
              </a:rPr>
              <a:t>ITMO AI Product Hack · кейс ООО «Цифра»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000" b="1">
                <a:solidFill>
                  <a:srgbClr val="FFFFFF"/>
                </a:solidFill>
                <a:latin typeface="Inter Tight"/>
              </a:rPr>
              <a:t>Интеллектуальный центр
PR/GR-мониторинга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15968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E4F5DE"/>
                </a:solidFill>
                <a:latin typeface="Inter Tight"/>
              </a:rPr>
              <a:t>Лента, отсортированная по влиянию на компанию, а не по дате публикации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D3EFC9"/>
                </a:solidFill>
                <a:latin typeface="Inter Tight"/>
              </a:rPr>
              <a:t>Левочкин Егор · Головаш Денис · Артемьев Иван</a:t>
            </a:r>
          </a:p>
        </p:txBody>
      </p:sp>
      <p:pic>
        <p:nvPicPr>
          <p:cNvPr id="7" name="Picture 6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411480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16975" y="56509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150" b="0">
                <a:solidFill>
                  <a:srgbClr val="FFFFFF"/>
                </a:solidFill>
                <a:latin typeface="Inter Tight"/>
              </a:rPr>
              <a:t>185.56.162.154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0292" cy="2286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1417320"/>
            <a:ext cx="67665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231F20"/>
                </a:solidFill>
                <a:latin typeface="Inter Tight"/>
              </a:rPr>
              <a:t>Три-четыре часа в день
уходит на то, чтобы
прочитать всё вручную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41605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6B7280"/>
                </a:solidFill>
                <a:latin typeface="Inter Tight"/>
              </a:rPr>
              <a:t>И дело не в объёме. Агрегаторы отвечают на вопрос «что интересного произошло». GR-специалисту нужен другой ответ: что из этого касается нашей компании.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481328"/>
            <a:ext cx="3200400" cy="1387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379123"/>
                </a:solidFill>
                <a:latin typeface="Inter Tight"/>
              </a:rPr>
              <a:t>630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063240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6B7280"/>
                </a:solidFill>
                <a:latin typeface="Inter Tight"/>
              </a:rPr>
              <a:t>часов в год на специалиста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34290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Столько уходит на ручной мониторинг. Целевой ориентир заказчика — разбор суточной повестки за 10–15 минут.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docs/business-case.md · расчёт согласован с заказчиком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0292" cy="13716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1325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>
                <a:solidFill>
                  <a:srgbClr val="231F20"/>
                </a:solidFill>
                <a:latin typeface="Inter Tight"/>
              </a:rPr>
              <a:t>Модель выставляет баллы.
Индекс считает код.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42062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3B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42900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Модель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749039"/>
            <a:ext cx="3657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31F20"/>
                </a:solidFill>
                <a:latin typeface="Inter Tight"/>
              </a:rPr>
              <a:t>К1 · 3    К2 · 2    К3 · 3
К4 · 0    К5 · 0    К6 · 3
и обоснование к каждому баллу</a:t>
            </a:r>
          </a:p>
        </p:txBody>
      </p:sp>
      <p:sp>
        <p:nvSpPr>
          <p:cNvPr id="8" name="Can 7"/>
          <p:cNvSpPr/>
          <p:nvPr/>
        </p:nvSpPr>
        <p:spPr>
          <a:xfrm>
            <a:off x="5166360" y="3968496"/>
            <a:ext cx="777240" cy="146304"/>
          </a:xfrm>
          <a:prstGeom prst="can">
            <a:avLst/>
          </a:prstGeom>
          <a:solidFill>
            <a:srgbClr val="3791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3200400"/>
            <a:ext cx="4480560" cy="1691640"/>
          </a:xfrm>
          <a:prstGeom prst="roundRect">
            <a:avLst>
              <a:gd name="adj" fmla="val 6000"/>
            </a:avLst>
          </a:prstGeom>
          <a:solidFill>
            <a:srgbClr val="231F20"/>
          </a:solidFill>
          <a:ln w="19050">
            <a:solidFill>
              <a:srgbClr val="231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3429000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9AE088"/>
                </a:solidFill>
                <a:latin typeface="Inter Tight"/>
              </a:rPr>
              <a:t>Код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3730752"/>
            <a:ext cx="3931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>
                <a:solidFill>
                  <a:srgbClr val="FFFFFF"/>
                </a:solidFill>
                <a:latin typeface="Inter Tight"/>
              </a:rPr>
              <a:t>индекс 65,0</a:t>
            </a:r>
            <a:r>
              <a:rPr sz="1700" b="0">
                <a:solidFill>
                  <a:srgbClr val="9AA1AB"/>
                </a:solidFill>
                <a:latin typeface="Inter Tight"/>
              </a:rPr>
              <a:t>  →  </a:t>
            </a:r>
            <a:r>
              <a:rPr sz="1700" b="1">
                <a:solidFill>
                  <a:srgbClr val="FFFFFF"/>
                </a:solidFill>
                <a:latin typeface="Inter Tight"/>
              </a:rPr>
              <a:t>категория «Среднее»</a:t>
            </a:r>
            <a:r>
              <a:rPr sz="1300" b="0">
                <a:solidFill>
                  <a:srgbClr val="C8D4C8"/>
                </a:solidFill>
                <a:latin typeface="Inter Tight"/>
              </a:rPr>
              <a:t>
флаг эскалации поднимает до «Высокого»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57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1">
                <a:solidFill>
                  <a:srgbClr val="231F20"/>
                </a:solidFill>
                <a:latin typeface="Inter Tight"/>
              </a:rPr>
              <a:t>В контракте ответа модели полей «индекс» и «категория» нет вовсе. </a:t>
            </a:r>
            <a:r>
              <a:rPr sz="1450" b="0">
                <a:solidFill>
                  <a:srgbClr val="6B7280"/>
                </a:solidFill>
                <a:latin typeface="Inter Tight"/>
              </a:rPr>
              <a:t>Она физически не может их вернуть — поэтому оценку можно проверить и поправить.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ADR-0003 · backend/config/scoring.yaml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Сверху то, что важнее для компании, а не то, что свежее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Цветом отмечены только два верхних уровня серьёзности: сортировка уже сделала главную работу.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70992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fe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73736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185.56.162.154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Оценку видно целиком — и её можно поправить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Слева цитата из оригинала под каждым утверждением. Справа шесть критериев: балл, вклад в индекс, обоснование. Меняете балл — индекс пересчитывается сразу.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70992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breakd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73736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FR-024 · FR-081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НПА живёт отдельно: стадии, хронология, динамика влияния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Стадия «Обсуждение» помечена неприменимой, а не непройденной: российские акты стадии пропускают, и линейная шкала без этого состояния лжёт.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70992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73736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FR-032 · FR-035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0292" cy="82296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13258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>
                <a:solidFill>
                  <a:srgbClr val="231F20"/>
                </a:solidFill>
                <a:latin typeface="Inter Tight"/>
              </a:rPr>
              <a:t>Обработка потока стоит дешевле,
чем один пропущенный документ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Год работы модели на потоке 150 материалов в сутки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20440"/>
            <a:ext cx="42245" cy="310896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50215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>
                <a:solidFill>
                  <a:srgbClr val="379123"/>
                </a:solidFill>
                <a:latin typeface="Inter Tight"/>
              </a:rPr>
              <a:t>≈ 2 100 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Один штраф по ФЗ № 295-ФЗ для операторов цифровых платформ, верхняя граница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058400" cy="310896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4515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>
                <a:solidFill>
                  <a:srgbClr val="FFFFFF"/>
                </a:solidFill>
                <a:latin typeface="Inter Tight"/>
              </a:rPr>
              <a:t>500 000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1">
                <a:solidFill>
                  <a:srgbClr val="231F20"/>
                </a:solidFill>
                <a:latin typeface="Inter Tight"/>
              </a:rPr>
              <a:t>Полосы в одном масштабе. </a:t>
            </a:r>
            <a:r>
              <a:rPr sz="1450" b="0">
                <a:solidFill>
                  <a:srgbClr val="6B7280"/>
                </a:solidFill>
                <a:latin typeface="Inter Tight"/>
              </a:rPr>
              <a:t>Верхняя — годовая стоимость обработки: четыре копейки за материал. Одного пропущенного документа хватает, чтобы перекрыть двести лет её работы.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893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9AA1AB"/>
                </a:solidFill>
                <a:latin typeface="Inter Tight"/>
              </a:rPr>
              <a:t>Пересчитано по курсу ЦБ на 05.09.2026 — 86,59 ₽ за доллар.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docs/business-case.md · замер стоимости на реальном материале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0292" cy="56692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13258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400" b="1">
                <a:solidFill>
                  <a:srgbClr val="231F20"/>
                </a:solidFill>
                <a:latin typeface="Inter Tight"/>
              </a:rPr>
              <a:t>Проверено на реестре самого заказчика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9659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6B7280"/>
                </a:solidFill>
                <a:latin typeface="Inter Tight"/>
              </a:rPr>
              <a:t>Сорок две карточки, баллы в них проставлены человеком. Одна клетка — одна карточка.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97864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64208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30552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96896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63240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9584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95928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62272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28616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94960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61304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93992" y="2606040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072384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97864" y="3072384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64208" y="3072384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0552" y="3072384"/>
            <a:ext cx="384048" cy="38404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96896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63240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29584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95928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62272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28616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94960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1304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27648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93992" y="3072384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1520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97864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64208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30552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96896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63240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29584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95928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62272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928616" y="3538728"/>
            <a:ext cx="384048" cy="384048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94960" y="3538728"/>
            <a:ext cx="384048" cy="384048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861304" y="3538728"/>
            <a:ext cx="384048" cy="384048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27648" y="3538728"/>
            <a:ext cx="384048" cy="384048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93992" y="3538728"/>
            <a:ext cx="384048" cy="384048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1520" y="4325112"/>
            <a:ext cx="146304" cy="146304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" y="42976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18 — категория совпала точно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11880" y="4325112"/>
            <a:ext cx="146304" cy="146304"/>
          </a:xfrm>
          <a:prstGeom prst="rect">
            <a:avLst/>
          </a:prstGeom>
          <a:solidFill>
            <a:srgbClr val="A8DC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49624" y="42976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20 — разошлась на одну ступень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4325112"/>
            <a:ext cx="146304" cy="146304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9984" y="42976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6B7280"/>
                </a:solidFill>
                <a:latin typeface="Inter Tight"/>
              </a:rPr>
              <a:t>4 — разошлась сильнее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2560320"/>
            <a:ext cx="3474720" cy="7252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379123"/>
                </a:solidFill>
                <a:latin typeface="Inter Tight"/>
              </a:rPr>
              <a:t>42 / 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3401568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6B7280"/>
                </a:solidFill>
                <a:latin typeface="Inter Tight"/>
              </a:rPr>
              <a:t>формула сходится точно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373075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Отдельная проверка: получив экспертные баллы, код выдаёт тот же индекс и ту же категорию, что в Excel заказчика. Включая эскалацию.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502920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231F20"/>
                </a:solidFill>
                <a:latin typeface="Inter Tight"/>
              </a:rPr>
              <a:t>Провалов важного в нижние категории: один при цели ноль. </a:t>
            </a:r>
            <a:r>
              <a:rPr sz="1400" b="0">
                <a:solidFill>
                  <a:srgbClr val="6B7280"/>
                </a:solidFill>
                <a:latin typeface="Inter Tight"/>
              </a:rPr>
              <a:t>Это ключевое условие заказчика, и оно важнее общей точности: пропущенное регуляторное изменение стоит дороже десятка лишних материалов в ленте. Заземление отдельно: 8,2 % утверждений отбраковала вторая ступень — цитата в оригинале есть, но утверждения не подтверждает.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evals/results.md · python -m src.cli evaluate · verify-formula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EB5757"/>
                </a:solidFill>
                <a:latin typeface="Inter Tight"/>
              </a:rPr>
              <a:t>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400" b="1">
                <a:solidFill>
                  <a:srgbClr val="231F20"/>
                </a:solidFill>
                <a:latin typeface="Inter Tight"/>
              </a:rPr>
              <a:t>Чего мы измерить не смогли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50292" cy="960120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066544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231F20"/>
                </a:solidFill>
                <a:latin typeface="Inter Tight"/>
              </a:rPr>
              <a:t>Точность фильтрации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48716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В реестре заказчика нет ни одной нерелевантной карточки — сравнивать не с чем. Заявленные восемьдесят процентов на таких данных неизмеримы в принципе. Нужен размеченный набор с отрицательными примерами.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01568"/>
            <a:ext cx="50292" cy="960120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364992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231F20"/>
                </a:solidFill>
                <a:latin typeface="Inter Tight"/>
              </a:rPr>
              <a:t>Провалы важного: один при цели ноль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785616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Единственный провал — следствие того, что новостная схема систематически занижает оценку на материалах с непрямой связью с бизнесом.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00016"/>
            <a:ext cx="50292" cy="9601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663440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231F20"/>
                </a:solidFill>
                <a:latin typeface="Inter Tight"/>
              </a:rPr>
              <a:t>Живой сбор на стенде выключен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5084064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Обработка не успевает за сбором, и необработанные материалы попадают в ленту пустыми карточками. Показываем подготовленный срез.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docs/hypotheses.md · specs/…/open-questions.md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D3EFC9"/>
                </a:solidFill>
                <a:latin typeface="Inter Tigh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400" b="1">
                <a:solidFill>
                  <a:srgbClr val="FFFFFF"/>
                </a:solidFill>
                <a:latin typeface="Inter Tight"/>
              </a:rPr>
              <a:t>Кто делал и где посмотреть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1">
                <a:solidFill>
                  <a:srgbClr val="FFFFFF"/>
                </a:solidFill>
                <a:latin typeface="Inter Tight"/>
              </a:rPr>
              <a:t>Левочкин Егор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70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D3EFC9"/>
                </a:solidFill>
                <a:latin typeface="Inter Tight"/>
              </a:rPr>
              <a:t>@veceloe  ·  продукт, парсинг, фронтенд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1">
                <a:solidFill>
                  <a:srgbClr val="FFFFFF"/>
                </a:solidFill>
                <a:latin typeface="Inter Tight"/>
              </a:rPr>
              <a:t>Головаш Денис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4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D3EFC9"/>
                </a:solidFill>
                <a:latin typeface="Inter Tight"/>
              </a:rPr>
              <a:t>@denizzzz_ka  ·  весь слой работы с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1">
                <a:solidFill>
                  <a:srgbClr val="FFFFFF"/>
                </a:solidFill>
                <a:latin typeface="Inter Tight"/>
              </a:rPr>
              <a:t>Артемьев Иван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988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D3EFC9"/>
                </a:solidFill>
                <a:latin typeface="Inter Tight"/>
              </a:rPr>
              <a:t>@s3drmn  ·  бэкенд, конвейер, развёртывание</a:t>
            </a:r>
          </a:p>
        </p:txBody>
      </p:sp>
      <p:pic>
        <p:nvPicPr>
          <p:cNvPr id="11" name="Picture 10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935" y="2286000"/>
            <a:ext cx="1920240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51215" y="43159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400" b="1">
                <a:solidFill>
                  <a:srgbClr val="FFFFFF"/>
                </a:solidFill>
                <a:latin typeface="Inter Tight"/>
              </a:rPr>
              <a:t>185.56.162.154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E4F5DE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D3EFC9"/>
                </a:solidFill>
                <a:latin typeface="Inter Tight"/>
              </a:rPr>
              <a:t>9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