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1">
                <a:solidFill>
                  <a:srgbClr val="8B949E"/>
                </a:solidFill>
                <a:latin typeface="Inter Tight"/>
              </a:rPr>
              <a:t>Кейс ООО «Цифра» для GS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97480"/>
            <a:ext cx="106984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200" b="1">
                <a:solidFill>
                  <a:srgbClr val="F2F4F3"/>
                </a:solidFill>
                <a:latin typeface="Inter Tight"/>
              </a:rPr>
              <a:t>Мониторинг,
который отвечает
на вопрос </a:t>
            </a:r>
            <a:r>
              <a:rPr sz="6200" b="1">
                <a:solidFill>
                  <a:srgbClr val="43B02A"/>
                </a:solidFill>
                <a:latin typeface="Inter Tight"/>
              </a:rPr>
              <a:t>«и что?»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4068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8B949E"/>
                </a:solidFill>
                <a:latin typeface="Inter Tight"/>
              </a:rPr>
              <a:t>Интеллектуальный центр PR/GR-мониторинга для GS Labs</a:t>
            </a:r>
          </a:p>
        </p:txBody>
      </p:sp>
      <p:pic>
        <p:nvPicPr>
          <p:cNvPr id="6" name="Picture 5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4754880"/>
            <a:ext cx="137160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51215" y="62362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200" b="1">
                <a:solidFill>
                  <a:srgbClr val="F2F4F3"/>
                </a:solidFill>
                <a:latin typeface="Inter Tight"/>
              </a:rPr>
              <a:t>185.56.162.154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43B02A"/>
                </a:solidFill>
                <a:latin typeface="Inter Tight"/>
              </a:rPr>
              <a:t>Зачем это вообще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0350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5000" b="1">
                <a:solidFill>
                  <a:srgbClr val="F2F4F3"/>
                </a:solidFill>
                <a:latin typeface="Inter Tight"/>
              </a:rPr>
              <a:t>630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>
                <a:solidFill>
                  <a:srgbClr val="43B02A"/>
                </a:solidFill>
                <a:latin typeface="Inter Tight"/>
              </a:rPr>
              <a:t>часов в год у одного специалиста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8B949E"/>
                </a:solidFill>
                <a:latin typeface="Inter Tight"/>
              </a:rPr>
              <a:t>Столько уходит на ручное чтение лент, порталов регуляторов и телеграм-каналов. Ориентир заказчика — разбирать суточную повестку за 10–15 минут.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828800"/>
            <a:ext cx="4572000" cy="356616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28600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8B949E"/>
                </a:solidFill>
                <a:latin typeface="Inter Tight"/>
              </a:rPr>
              <a:t>Агрегаторы отвечают, </a:t>
            </a:r>
            <a:r>
              <a:rPr sz="2100" b="1">
                <a:solidFill>
                  <a:srgbClr val="F2F4F3"/>
                </a:solidFill>
                <a:latin typeface="Inter Tight"/>
              </a:rPr>
              <a:t>что интересного произошло</a:t>
            </a:r>
            <a:r>
              <a:rPr sz="2100" b="0">
                <a:solidFill>
                  <a:srgbClr val="8B949E"/>
                </a:solidFill>
                <a:latin typeface="Inter Tight"/>
              </a:rPr>
              <a:t>.
GR-специалисту нужен другой ответ: </a:t>
            </a:r>
            <a:r>
              <a:rPr sz="2100" b="1">
                <a:solidFill>
                  <a:srgbClr val="43B02A"/>
                </a:solidFill>
                <a:latin typeface="Inter Tight"/>
              </a:rPr>
              <a:t>что из этого касается нашей компании</a:t>
            </a:r>
            <a:r>
              <a:rPr sz="2100" b="0">
                <a:solidFill>
                  <a:srgbClr val="8B949E"/>
                </a:solidFill>
                <a:latin typeface="Inter T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F2F4F3"/>
                </a:solidFill>
                <a:latin typeface="Inter Tight"/>
              </a:rPr>
              <a:t>Модель выставляет баллы.
</a:t>
            </a:r>
            <a:r>
              <a:rPr sz="5200" b="1">
                <a:solidFill>
                  <a:srgbClr val="43B02A"/>
                </a:solidFill>
                <a:latin typeface="Inter Tight"/>
              </a:rPr>
              <a:t>Индекс считает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46120"/>
            <a:ext cx="4663440" cy="18288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204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>
                <a:solidFill>
                  <a:srgbClr val="8B949E"/>
                </a:solidFill>
                <a:latin typeface="Inter Tight"/>
              </a:rPr>
              <a:t>Модель отдаёт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6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2384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84048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8B949E"/>
                </a:solidFill>
                <a:latin typeface="Inter Tight"/>
              </a:rPr>
              <a:t>К6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553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и обоснование к каждому баллу</a:t>
            </a:r>
          </a:p>
        </p:txBody>
      </p:sp>
      <p:sp>
        <p:nvSpPr>
          <p:cNvPr id="19" name="Can 18"/>
          <p:cNvSpPr/>
          <p:nvPr/>
        </p:nvSpPr>
        <p:spPr>
          <a:xfrm>
            <a:off x="5623560" y="4069080"/>
            <a:ext cx="685800" cy="146304"/>
          </a:xfrm>
          <a:prstGeom prst="can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0" y="3246120"/>
            <a:ext cx="4754880" cy="1828800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3520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>
                <a:solidFill>
                  <a:srgbClr val="43B02A"/>
                </a:solidFill>
                <a:latin typeface="Inter Tight"/>
              </a:rPr>
              <a:t>Код вычисляет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88620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>
                <a:solidFill>
                  <a:srgbClr val="F2F4F3"/>
                </a:solidFill>
                <a:latin typeface="Inter Tight"/>
              </a:rPr>
              <a:t>65,0</a:t>
            </a:r>
            <a:r>
              <a:rPr sz="2000" b="0">
                <a:solidFill>
                  <a:srgbClr val="8B949E"/>
                </a:solidFill>
                <a:latin typeface="Inter Tight"/>
              </a:rPr>
              <a:t>  →  </a:t>
            </a:r>
            <a:r>
              <a:rPr sz="2000" b="1">
                <a:solidFill>
                  <a:srgbClr val="F2F4F3"/>
                </a:solidFill>
                <a:latin typeface="Inter Tight"/>
              </a:rPr>
              <a:t>Среднее</a:t>
            </a:r>
            <a:r>
              <a:rPr sz="1400" b="0">
                <a:solidFill>
                  <a:srgbClr val="8B949E"/>
                </a:solidFill>
                <a:latin typeface="Inter Tight"/>
              </a:rPr>
              <a:t>
флаг эскалации поднимает до «Высокого»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4406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В контракте ответа модели полей «индекс» и «категория» нет вовсе. </a:t>
            </a:r>
            <a:r>
              <a:rPr sz="1500" b="0">
                <a:solidFill>
                  <a:srgbClr val="8B949E"/>
                </a:solidFill>
                <a:latin typeface="Inter Tight"/>
              </a:rPr>
              <a:t>Она физически не может их вернуть — поэтому оценку можно проверить и поправить.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379123"/>
                </a:solidFill>
                <a:latin typeface="Inter Tight"/>
              </a:rPr>
              <a:t>Вот как это выглядит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>
                <a:solidFill>
                  <a:srgbClr val="231F20"/>
                </a:solidFill>
                <a:latin typeface="Inter Tight"/>
              </a:rPr>
              <a:t>Сверху то, что важнее для компании, а не то, что свежее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Цветом отмечены только два верхних уровня серьёзности — сортировка уже сделала главную работу.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80136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fe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828800"/>
            <a:ext cx="9052560" cy="44887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43B02A"/>
                </a:solidFill>
                <a:latin typeface="Inter Tight"/>
              </a:rPr>
              <a:t>Сколько это стоит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F2F4F3"/>
                </a:solidFill>
                <a:latin typeface="Inter Tight"/>
              </a:rPr>
              <a:t>Год работы модели дешевле,
чем один пропущенный документ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0698480" cy="196596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8404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>
                <a:solidFill>
                  <a:srgbClr val="8B949E"/>
                </a:solidFill>
                <a:latin typeface="Inter Tight"/>
              </a:rPr>
              <a:t>Год обработки потока в 150 материалов в сутки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187952"/>
            <a:ext cx="36868" cy="27432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416052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>
                <a:solidFill>
                  <a:srgbClr val="43B02A"/>
                </a:solidFill>
                <a:latin typeface="Inter Tight"/>
              </a:rPr>
              <a:t>2 100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817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>
                <a:solidFill>
                  <a:srgbClr val="8B949E"/>
                </a:solidFill>
                <a:latin typeface="Inter Tight"/>
              </a:rPr>
              <a:t>Один штраф по ФЗ № 295-ФЗ, верхняя граница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029200"/>
            <a:ext cx="8778240" cy="274320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500176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>
                <a:solidFill>
                  <a:srgbClr val="F2F4F3"/>
                </a:solidFill>
                <a:latin typeface="Inter Tight"/>
              </a:rPr>
              <a:t>500 000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F2F4F3"/>
                </a:solidFill>
                <a:latin typeface="Inter Tight"/>
              </a:rPr>
              <a:t>Полосы в одном масштабе, зелёная не увеличена. </a:t>
            </a:r>
            <a:r>
              <a:rPr sz="1400" b="0">
                <a:solidFill>
                  <a:srgbClr val="8B949E"/>
                </a:solidFill>
                <a:latin typeface="Inter Tight"/>
              </a:rPr>
              <a:t>Четыре копейки за материал. Одного пропуска хватает, чтобы перекрыть двести лет работы модели. Курс ЦБ на 05.09.2026.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43B02A"/>
                </a:solidFill>
                <a:latin typeface="Inter Tight"/>
              </a:rPr>
              <a:t>Насколько это точно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4000" b="1">
                <a:solidFill>
                  <a:srgbClr val="F2F4F3"/>
                </a:solidFill>
                <a:latin typeface="Inter Tight"/>
              </a:rPr>
              <a:t>Проверено на реестре самого заказчика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40280"/>
            <a:ext cx="6858000" cy="32004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514600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>
                <a:solidFill>
                  <a:srgbClr val="8B949E"/>
                </a:solidFill>
                <a:latin typeface="Inter Tight"/>
              </a:rPr>
              <a:t>Одна клетка — одна карточка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5568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36192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56816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0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8064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18688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9312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59936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01184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8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42432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3056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2926080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15568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36192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56816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77440" y="3346704"/>
            <a:ext cx="329184" cy="32918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8064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18688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39312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59936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01184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1808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42432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0" y="3346704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15568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36192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56816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77440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98064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18688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9312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59936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80560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01184" y="3767328"/>
            <a:ext cx="329184" cy="32918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21808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42432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63056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83680" y="3767328"/>
            <a:ext cx="329184" cy="32918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15568" y="4919472"/>
            <a:ext cx="146304" cy="14630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3312" y="489204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18 — точно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95928" y="4919472"/>
            <a:ext cx="146304" cy="14630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33672" y="489204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20 — на ступень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76288" y="4919472"/>
            <a:ext cx="146304" cy="14630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14032" y="489204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4 — дальше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46720" y="2240280"/>
            <a:ext cx="3474720" cy="1481328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66760" y="246888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43B02A"/>
                </a:solidFill>
                <a:latin typeface="Inter Tight"/>
              </a:rPr>
              <a:t>42 / 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12724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B949E"/>
                </a:solidFill>
                <a:latin typeface="Inter Tight"/>
              </a:rPr>
              <a:t>формула сходится с Excel заказчика точно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46720" y="3959352"/>
            <a:ext cx="3474720" cy="1481328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66760" y="4187952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B5757"/>
                </a:solidFill>
                <a:latin typeface="Inter Tight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4846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8B949E"/>
                </a:solidFill>
                <a:latin typeface="Inter Tight"/>
              </a:rPr>
              <a:t>провал важного в нижние категории при цели ноль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5715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F2F4F3"/>
                </a:solidFill>
                <a:latin typeface="Inter Tight"/>
              </a:rPr>
              <a:t>Клетки — это модель. </a:t>
            </a:r>
            <a:r>
              <a:rPr sz="1400" b="0">
                <a:solidFill>
                  <a:srgbClr val="8B949E"/>
                </a:solidFill>
                <a:latin typeface="Inter Tight"/>
              </a:rPr>
              <a:t>Она сама выставила баллы. «42 из 42» — это про формулу: получив экспертные баллы, код выдаёт тот же индекс. Путать эти два числа нельзя.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EB5757"/>
                </a:solidFill>
                <a:latin typeface="Inter Tight"/>
              </a:rPr>
              <a:t>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4200" b="1">
                <a:solidFill>
                  <a:srgbClr val="F2F4F3"/>
                </a:solidFill>
                <a:latin typeface="Inter Tight"/>
              </a:rPr>
              <a:t>Чего мы измерить не смогли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97480"/>
            <a:ext cx="6858000" cy="2880360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2F4F3"/>
                </a:solidFill>
                <a:latin typeface="Inter Tight"/>
              </a:rPr>
              <a:t>Точность фильтрации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566160"/>
            <a:ext cx="60350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8B949E"/>
                </a:solidFill>
                <a:latin typeface="Inter Tight"/>
              </a:rPr>
              <a:t>В реестре заказчика нет ни одной нерелевантной карточки — сравнивать не с чем. Заявленные 80 % на таких данных неизмеримы в принципе: тривиальный классификатор «всё релевантно» даёт здесь 100 %. Нужен размеченный набор с отрицательными примерами; это открытый вопрос к заказчику.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697480"/>
            <a:ext cx="3474720" cy="13716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926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Новостная схема занижает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3273552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8B949E"/>
                </a:solidFill>
                <a:latin typeface="Inter Tight"/>
              </a:rPr>
              <a:t>Отсюда единственный провал важного.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206240"/>
            <a:ext cx="3474720" cy="1371600"/>
          </a:xfrm>
          <a:prstGeom prst="roundRect">
            <a:avLst>
              <a:gd name="adj" fmla="val 4500"/>
            </a:avLst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44348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Живой сбор выключен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4782312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8B949E"/>
                </a:solidFill>
                <a:latin typeface="Inter Tight"/>
              </a:rPr>
              <a:t>Обработка не успевает за сбором. Показываем срез.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43B02A"/>
                </a:solidFill>
                <a:latin typeface="Inter Tight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4200" b="1">
                <a:solidFill>
                  <a:srgbClr val="F2F4F3"/>
                </a:solidFill>
                <a:latin typeface="Inter Tight"/>
              </a:rPr>
              <a:t>Кто делал и где посмотреть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1">
                <a:solidFill>
                  <a:srgbClr val="F2F4F3"/>
                </a:solidFill>
                <a:latin typeface="Inter Tight"/>
              </a:rPr>
              <a:t>Левочкин Егор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2724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продукт, парсинг, фронтенд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1">
                <a:solidFill>
                  <a:srgbClr val="F2F4F3"/>
                </a:solidFill>
                <a:latin typeface="Inter Tight"/>
              </a:rPr>
              <a:t>Головаш Денис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8736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весь слой работы с моделью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1">
                <a:solidFill>
                  <a:srgbClr val="F2F4F3"/>
                </a:solidFill>
                <a:latin typeface="Inter Tight"/>
              </a:rPr>
              <a:t>Артемьев Иван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47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бэкенд, конвейер, развёртывание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651760"/>
            <a:ext cx="4023360" cy="3017520"/>
          </a:xfrm>
          <a:prstGeom prst="roundRect">
            <a:avLst>
              <a:gd name="adj" fmla="val 4500"/>
            </a:avLst>
          </a:prstGeom>
          <a:solidFill>
            <a:srgbClr val="23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926080"/>
            <a:ext cx="1920240" cy="1920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2000"/>
              </a:lnSpc>
            </a:pPr>
            <a:r>
              <a:rPr sz="1500" b="1">
                <a:solidFill>
                  <a:srgbClr val="F2F4F3"/>
                </a:solidFill>
                <a:latin typeface="Inter Tight"/>
              </a:rPr>
              <a:t>185.56.162.154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53218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2000"/>
              </a:lnSpc>
            </a:pPr>
            <a:r>
              <a:rPr sz="1150" b="0">
                <a:solidFill>
                  <a:srgbClr val="8B949E"/>
                </a:solidFill>
                <a:latin typeface="Inter Tight"/>
              </a:rPr>
              <a:t>лента, досье и дайджест на живых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8B949E"/>
                </a:solidFill>
                <a:latin typeface="Inter Tight"/>
              </a:rPr>
              <a:t>github.com/veceloe/ai-gpr-center-cifra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9AA1AB"/>
                </a:solidFill>
                <a:latin typeface="Inter Tight"/>
              </a:rPr>
              <a:t>Приложение, если спросят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>
                <a:solidFill>
                  <a:srgbClr val="231F20"/>
                </a:solidFill>
                <a:latin typeface="Inter Tight"/>
              </a:rPr>
              <a:t>Разбор оценки: шесть критериев и заземление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Слева цитата из оригинала под каждым утверждением. Справа балл, вклад в индекс и обоснование по каждому критерию.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80136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breakd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828800"/>
            <a:ext cx="9052560" cy="448878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1">
                <a:solidFill>
                  <a:srgbClr val="9AA1AB"/>
                </a:solidFill>
                <a:latin typeface="Inter Tight"/>
              </a:rPr>
              <a:t>Приложение, если спросят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>
                <a:solidFill>
                  <a:srgbClr val="231F20"/>
                </a:solidFill>
                <a:latin typeface="Inter Tight"/>
              </a:rPr>
              <a:t>Досье НПА: стадии, хронология, динамика влияния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Стадия «Обсуждение» помечена неприменимой, а не непройденной: российские акты стадии пропускают, и линейная шкала без этого состояния лжёт.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80136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828800"/>
            <a:ext cx="9052560" cy="44887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